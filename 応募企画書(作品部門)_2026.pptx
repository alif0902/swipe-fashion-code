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11"/>
  </p:handoutMasterIdLst>
  <p:sldIdLst>
    <p:sldId id="259" r:id="rId2"/>
    <p:sldId id="269" r:id="rId3"/>
    <p:sldId id="261" r:id="rId4"/>
    <p:sldId id="262" r:id="rId5"/>
    <p:sldId id="267" r:id="rId6"/>
    <p:sldId id="263" r:id="rId7"/>
    <p:sldId id="264" r:id="rId8"/>
    <p:sldId id="265" r:id="rId9"/>
    <p:sldId id="266" r:id="rId10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0EDBDC-91B7-4315-B1FD-7523923F48B2}" v="4" dt="2022-05-10T05:50:52.0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955" autoAdjust="0"/>
    <p:restoredTop sz="94660"/>
  </p:normalViewPr>
  <p:slideViewPr>
    <p:cSldViewPr snapToGrid="0">
      <p:cViewPr>
        <p:scale>
          <a:sx n="75" d="100"/>
          <a:sy n="75" d="100"/>
        </p:scale>
        <p:origin x="-32" y="14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102"/>
      </p:cViewPr>
      <p:guideLst/>
    </p:cSldViewPr>
  </p:notesViewPr>
  <p:gridSpacing cx="36004" cy="36004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大森　卓" userId="ba7a53d6-b362-4c5e-baf8-0328494bbac5" providerId="ADAL" clId="{840EDBDC-91B7-4315-B1FD-7523923F48B2}"/>
    <pc:docChg chg="undo custSel addSld delSld modSld modMainMaster">
      <pc:chgData name="大森　卓" userId="ba7a53d6-b362-4c5e-baf8-0328494bbac5" providerId="ADAL" clId="{840EDBDC-91B7-4315-B1FD-7523923F48B2}" dt="2022-05-10T06:11:54.141" v="642" actId="1076"/>
      <pc:docMkLst>
        <pc:docMk/>
      </pc:docMkLst>
      <pc:sldChg chg="modSp mod">
        <pc:chgData name="大森　卓" userId="ba7a53d6-b362-4c5e-baf8-0328494bbac5" providerId="ADAL" clId="{840EDBDC-91B7-4315-B1FD-7523923F48B2}" dt="2022-05-10T05:50:35.844" v="622" actId="20577"/>
        <pc:sldMkLst>
          <pc:docMk/>
          <pc:sldMk cId="1291642922" sldId="259"/>
        </pc:sldMkLst>
        <pc:spChg chg="mod">
          <ac:chgData name="大森　卓" userId="ba7a53d6-b362-4c5e-baf8-0328494bbac5" providerId="ADAL" clId="{840EDBDC-91B7-4315-B1FD-7523923F48B2}" dt="2022-05-10T05:50:34.486" v="618" actId="20577"/>
          <ac:spMkLst>
            <pc:docMk/>
            <pc:sldMk cId="1291642922" sldId="259"/>
            <ac:spMk id="3" creationId="{00000000-0000-0000-0000-000000000000}"/>
          </ac:spMkLst>
        </pc:spChg>
        <pc:spChg chg="mod">
          <ac:chgData name="大森　卓" userId="ba7a53d6-b362-4c5e-baf8-0328494bbac5" providerId="ADAL" clId="{840EDBDC-91B7-4315-B1FD-7523923F48B2}" dt="2022-05-10T05:50:35.844" v="622" actId="20577"/>
          <ac:spMkLst>
            <pc:docMk/>
            <pc:sldMk cId="1291642922" sldId="259"/>
            <ac:spMk id="10" creationId="{00000000-0000-0000-0000-000000000000}"/>
          </ac:spMkLst>
        </pc:spChg>
      </pc:sldChg>
      <pc:sldChg chg="modSp del mod">
        <pc:chgData name="大森　卓" userId="ba7a53d6-b362-4c5e-baf8-0328494bbac5" providerId="ADAL" clId="{840EDBDC-91B7-4315-B1FD-7523923F48B2}" dt="2022-05-10T05:51:01.358" v="624" actId="47"/>
        <pc:sldMkLst>
          <pc:docMk/>
          <pc:sldMk cId="1329050631" sldId="268"/>
        </pc:sldMkLst>
        <pc:spChg chg="mod">
          <ac:chgData name="大森　卓" userId="ba7a53d6-b362-4c5e-baf8-0328494bbac5" providerId="ADAL" clId="{840EDBDC-91B7-4315-B1FD-7523923F48B2}" dt="2022-05-10T04:56:35.742" v="73" actId="20577"/>
          <ac:spMkLst>
            <pc:docMk/>
            <pc:sldMk cId="1329050631" sldId="268"/>
            <ac:spMk id="2" creationId="{78177A8C-BBE0-4274-8CAC-ABB6FA40BAC2}"/>
          </ac:spMkLst>
        </pc:spChg>
        <pc:spChg chg="mod">
          <ac:chgData name="大森　卓" userId="ba7a53d6-b362-4c5e-baf8-0328494bbac5" providerId="ADAL" clId="{840EDBDC-91B7-4315-B1FD-7523923F48B2}" dt="2022-05-10T04:59:34.781" v="136" actId="20577"/>
          <ac:spMkLst>
            <pc:docMk/>
            <pc:sldMk cId="1329050631" sldId="268"/>
            <ac:spMk id="17" creationId="{3AFCC665-D971-46D3-AAFD-B65705D69749}"/>
          </ac:spMkLst>
        </pc:spChg>
        <pc:spChg chg="mod">
          <ac:chgData name="大森　卓" userId="ba7a53d6-b362-4c5e-baf8-0328494bbac5" providerId="ADAL" clId="{840EDBDC-91B7-4315-B1FD-7523923F48B2}" dt="2022-05-10T05:03:07.807" v="152" actId="20577"/>
          <ac:spMkLst>
            <pc:docMk/>
            <pc:sldMk cId="1329050631" sldId="268"/>
            <ac:spMk id="18" creationId="{92685725-51A1-45E6-B37B-C0F59FEC0EBD}"/>
          </ac:spMkLst>
        </pc:spChg>
      </pc:sldChg>
      <pc:sldChg chg="modSp add mod">
        <pc:chgData name="大森　卓" userId="ba7a53d6-b362-4c5e-baf8-0328494bbac5" providerId="ADAL" clId="{840EDBDC-91B7-4315-B1FD-7523923F48B2}" dt="2022-05-10T05:51:53.524" v="638" actId="20577"/>
        <pc:sldMkLst>
          <pc:docMk/>
          <pc:sldMk cId="593173134" sldId="269"/>
        </pc:sldMkLst>
        <pc:spChg chg="mod">
          <ac:chgData name="大森　卓" userId="ba7a53d6-b362-4c5e-baf8-0328494bbac5" providerId="ADAL" clId="{840EDBDC-91B7-4315-B1FD-7523923F48B2}" dt="2022-05-10T05:51:53.524" v="638" actId="20577"/>
          <ac:spMkLst>
            <pc:docMk/>
            <pc:sldMk cId="593173134" sldId="269"/>
            <ac:spMk id="18" creationId="{92685725-51A1-45E6-B37B-C0F59FEC0EBD}"/>
          </ac:spMkLst>
        </pc:spChg>
      </pc:sldChg>
      <pc:sldChg chg="add del">
        <pc:chgData name="大森　卓" userId="ba7a53d6-b362-4c5e-baf8-0328494bbac5" providerId="ADAL" clId="{840EDBDC-91B7-4315-B1FD-7523923F48B2}" dt="2022-05-10T05:21:16.167" v="465"/>
        <pc:sldMkLst>
          <pc:docMk/>
          <pc:sldMk cId="2254267250" sldId="269"/>
        </pc:sldMkLst>
      </pc:sldChg>
      <pc:sldMasterChg chg="addSldLayout delSldLayout modSldLayout sldLayoutOrd">
        <pc:chgData name="大森　卓" userId="ba7a53d6-b362-4c5e-baf8-0328494bbac5" providerId="ADAL" clId="{840EDBDC-91B7-4315-B1FD-7523923F48B2}" dt="2022-05-10T06:11:54.141" v="642" actId="1076"/>
        <pc:sldMasterMkLst>
          <pc:docMk/>
          <pc:sldMasterMk cId="200665778" sldId="2147483660"/>
        </pc:sldMasterMkLst>
        <pc:sldLayoutChg chg="addSp modSp mod">
          <pc:chgData name="大森　卓" userId="ba7a53d6-b362-4c5e-baf8-0328494bbac5" providerId="ADAL" clId="{840EDBDC-91B7-4315-B1FD-7523923F48B2}" dt="2022-05-10T05:24:41.081" v="550" actId="14100"/>
          <pc:sldLayoutMkLst>
            <pc:docMk/>
            <pc:sldMasterMk cId="200665778" sldId="2147483660"/>
            <pc:sldLayoutMk cId="518829222" sldId="2147483661"/>
          </pc:sldLayoutMkLst>
          <pc:spChg chg="mod">
            <ac:chgData name="大森　卓" userId="ba7a53d6-b362-4c5e-baf8-0328494bbac5" providerId="ADAL" clId="{840EDBDC-91B7-4315-B1FD-7523923F48B2}" dt="2022-05-10T04:57:32.040" v="86" actId="20577"/>
            <ac:spMkLst>
              <pc:docMk/>
              <pc:sldMasterMk cId="200665778" sldId="2147483660"/>
              <pc:sldLayoutMk cId="518829222" sldId="2147483661"/>
              <ac:spMk id="19" creationId="{00000000-0000-0000-0000-000000000000}"/>
            </ac:spMkLst>
          </pc:spChg>
          <pc:spChg chg="mod">
            <ac:chgData name="大森　卓" userId="ba7a53d6-b362-4c5e-baf8-0328494bbac5" providerId="ADAL" clId="{840EDBDC-91B7-4315-B1FD-7523923F48B2}" dt="2022-05-10T05:22:57.927" v="475" actId="1036"/>
            <ac:spMkLst>
              <pc:docMk/>
              <pc:sldMasterMk cId="200665778" sldId="2147483660"/>
              <pc:sldLayoutMk cId="518829222" sldId="2147483661"/>
              <ac:spMk id="21" creationId="{00000000-0000-0000-0000-000000000000}"/>
            </ac:spMkLst>
          </pc:spChg>
          <pc:spChg chg="mod">
            <ac:chgData name="大森　卓" userId="ba7a53d6-b362-4c5e-baf8-0328494bbac5" providerId="ADAL" clId="{840EDBDC-91B7-4315-B1FD-7523923F48B2}" dt="2022-05-10T05:24:41.081" v="550" actId="14100"/>
            <ac:spMkLst>
              <pc:docMk/>
              <pc:sldMasterMk cId="200665778" sldId="2147483660"/>
              <pc:sldLayoutMk cId="518829222" sldId="2147483661"/>
              <ac:spMk id="29" creationId="{00000000-0000-0000-0000-000000000000}"/>
            </ac:spMkLst>
          </pc:spChg>
          <pc:cxnChg chg="add mod">
            <ac:chgData name="大森　卓" userId="ba7a53d6-b362-4c5e-baf8-0328494bbac5" providerId="ADAL" clId="{840EDBDC-91B7-4315-B1FD-7523923F48B2}" dt="2022-05-10T05:22:43.639" v="470" actId="1035"/>
            <ac:cxnSpMkLst>
              <pc:docMk/>
              <pc:sldMasterMk cId="200665778" sldId="2147483660"/>
              <pc:sldLayoutMk cId="518829222" sldId="2147483661"/>
              <ac:cxnSpMk id="23" creationId="{EDD166F4-A616-B3A6-3F95-6EFA1C636586}"/>
            </ac:cxnSpMkLst>
          </pc:cxnChg>
        </pc:sldLayoutChg>
        <pc:sldLayoutChg chg="del">
          <pc:chgData name="大森　卓" userId="ba7a53d6-b362-4c5e-baf8-0328494bbac5" providerId="ADAL" clId="{840EDBDC-91B7-4315-B1FD-7523923F48B2}" dt="2022-05-10T05:51:34.843" v="626" actId="2696"/>
          <pc:sldLayoutMkLst>
            <pc:docMk/>
            <pc:sldMasterMk cId="200665778" sldId="2147483660"/>
            <pc:sldLayoutMk cId="906837449" sldId="2147483672"/>
          </pc:sldLayoutMkLst>
        </pc:sldLayoutChg>
        <pc:sldLayoutChg chg="del">
          <pc:chgData name="大森　卓" userId="ba7a53d6-b362-4c5e-baf8-0328494bbac5" providerId="ADAL" clId="{840EDBDC-91B7-4315-B1FD-7523923F48B2}" dt="2022-05-10T05:51:01.358" v="624" actId="47"/>
          <pc:sldLayoutMkLst>
            <pc:docMk/>
            <pc:sldMasterMk cId="200665778" sldId="2147483660"/>
            <pc:sldLayoutMk cId="4118700848" sldId="2147483680"/>
          </pc:sldLayoutMkLst>
        </pc:sldLayoutChg>
        <pc:sldLayoutChg chg="modSp mod ord">
          <pc:chgData name="大森　卓" userId="ba7a53d6-b362-4c5e-baf8-0328494bbac5" providerId="ADAL" clId="{840EDBDC-91B7-4315-B1FD-7523923F48B2}" dt="2022-05-10T06:11:54.141" v="642" actId="1076"/>
          <pc:sldLayoutMkLst>
            <pc:docMk/>
            <pc:sldMasterMk cId="200665778" sldId="2147483660"/>
            <pc:sldLayoutMk cId="793617886" sldId="2147483681"/>
          </pc:sldLayoutMkLst>
          <pc:spChg chg="mod">
            <ac:chgData name="大森　卓" userId="ba7a53d6-b362-4c5e-baf8-0328494bbac5" providerId="ADAL" clId="{840EDBDC-91B7-4315-B1FD-7523923F48B2}" dt="2022-05-10T06:11:54.141" v="642" actId="1076"/>
            <ac:spMkLst>
              <pc:docMk/>
              <pc:sldMasterMk cId="200665778" sldId="2147483660"/>
              <pc:sldLayoutMk cId="793617886" sldId="2147483681"/>
              <ac:spMk id="45" creationId="{0B87B6C0-D612-4CE4-BA37-FFA48E7F5F1E}"/>
            </ac:spMkLst>
          </pc:spChg>
          <pc:graphicFrameChg chg="mod">
            <ac:chgData name="大森　卓" userId="ba7a53d6-b362-4c5e-baf8-0328494bbac5" providerId="ADAL" clId="{840EDBDC-91B7-4315-B1FD-7523923F48B2}" dt="2022-05-10T06:11:38.372" v="640" actId="1076"/>
            <ac:graphicFrameMkLst>
              <pc:docMk/>
              <pc:sldMasterMk cId="200665778" sldId="2147483660"/>
              <pc:sldLayoutMk cId="793617886" sldId="2147483681"/>
              <ac:graphicFrameMk id="6" creationId="{00000000-0000-0000-0000-000000000000}"/>
            </ac:graphicFrameMkLst>
          </pc:graphicFrameChg>
        </pc:sldLayoutChg>
        <pc:sldLayoutChg chg="modSp mod ord">
          <pc:chgData name="大森　卓" userId="ba7a53d6-b362-4c5e-baf8-0328494bbac5" providerId="ADAL" clId="{840EDBDC-91B7-4315-B1FD-7523923F48B2}" dt="2022-05-10T05:21:14.891" v="464" actId="20578"/>
          <pc:sldLayoutMkLst>
            <pc:docMk/>
            <pc:sldMasterMk cId="200665778" sldId="2147483660"/>
            <pc:sldLayoutMk cId="3298311058" sldId="2147483681"/>
          </pc:sldLayoutMkLst>
          <pc:spChg chg="mod">
            <ac:chgData name="大森　卓" userId="ba7a53d6-b362-4c5e-baf8-0328494bbac5" providerId="ADAL" clId="{840EDBDC-91B7-4315-B1FD-7523923F48B2}" dt="2022-05-10T05:21:12.923" v="462"/>
            <ac:spMkLst>
              <pc:docMk/>
              <pc:sldMasterMk cId="200665778" sldId="2147483660"/>
              <pc:sldLayoutMk cId="3298311058" sldId="2147483681"/>
              <ac:spMk id="19" creationId="{00000000-0000-0000-0000-000000000000}"/>
            </ac:spMkLst>
          </pc:spChg>
        </pc:sldLayoutChg>
        <pc:sldLayoutChg chg="new del mod">
          <pc:chgData name="大森　卓" userId="ba7a53d6-b362-4c5e-baf8-0328494bbac5" providerId="ADAL" clId="{840EDBDC-91B7-4315-B1FD-7523923F48B2}" dt="2022-05-10T05:20:00.003" v="459" actId="11236"/>
          <pc:sldLayoutMkLst>
            <pc:docMk/>
            <pc:sldMasterMk cId="200665778" sldId="2147483660"/>
            <pc:sldLayoutMk cId="4026159593" sldId="2147483682"/>
          </pc:sldLayoutMkLst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65756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コンテンツ プレースホルダー 5"/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4268097940"/>
              </p:ext>
            </p:extLst>
          </p:nvPr>
        </p:nvGraphicFramePr>
        <p:xfrm>
          <a:off x="273284" y="1233302"/>
          <a:ext cx="8629815" cy="92085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98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312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20858">
                <a:tc>
                  <a:txBody>
                    <a:bodyPr/>
                    <a:lstStyle/>
                    <a:p>
                      <a:pPr marL="0" marR="0" indent="0" algn="ctr" defTabSz="13207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dirty="0"/>
                        <a:t>作品タイトル</a:t>
                      </a:r>
                    </a:p>
                  </a:txBody>
                  <a:tcPr marL="176107" marR="176107" marT="88053" marB="880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600" dirty="0"/>
                    </a:p>
                  </a:txBody>
                  <a:tcPr marL="176107" marR="176107" marT="88053" marB="880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コンテンツ プレースホルダー 5"/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2021484159"/>
              </p:ext>
            </p:extLst>
          </p:nvPr>
        </p:nvGraphicFramePr>
        <p:xfrm>
          <a:off x="273284" y="2615163"/>
          <a:ext cx="8629815" cy="19149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166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0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7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046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/>
                        <a:t>フリガナ</a:t>
                      </a:r>
                      <a:endParaRPr kumimoji="1" lang="en-US" altLang="ja-JP" sz="1050" dirty="0"/>
                    </a:p>
                    <a:p>
                      <a:pPr algn="ctr"/>
                      <a:r>
                        <a:rPr kumimoji="1" lang="ja-JP" altLang="en-US" sz="1800" dirty="0"/>
                        <a:t>氏  名</a:t>
                      </a:r>
                      <a:endParaRPr kumimoji="1" lang="en-US" altLang="ja-JP" sz="1400" dirty="0"/>
                    </a:p>
                  </a:txBody>
                  <a:tcPr marL="176107" marR="176107" marT="88053" marB="880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176107" marR="176107" marT="88053" marB="880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70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dirty="0"/>
                        <a:t>所属学校名</a:t>
                      </a:r>
                    </a:p>
                  </a:txBody>
                  <a:tcPr marL="176107" marR="176107" marT="88053" marB="880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176107" marR="176107" marT="88053" marB="880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学年</a:t>
                      </a:r>
                    </a:p>
                  </a:txBody>
                  <a:tcPr marL="176107" marR="176107" marT="88053" marB="880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176107" marR="176107" marT="88053" marB="880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81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E-mail</a:t>
                      </a:r>
                      <a:endParaRPr kumimoji="1" lang="ja-JP" altLang="en-US" sz="1800" dirty="0"/>
                    </a:p>
                  </a:txBody>
                  <a:tcPr marL="176107" marR="176107" marT="88053" marB="880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176107" marR="176107" marT="88053" marB="880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テキスト ボックス 15"/>
          <p:cNvSpPr txBox="1"/>
          <p:nvPr userDrawn="1"/>
        </p:nvSpPr>
        <p:spPr>
          <a:xfrm>
            <a:off x="137160" y="2257174"/>
            <a:ext cx="88696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800" dirty="0"/>
              <a:t> </a:t>
            </a:r>
            <a:r>
              <a:rPr lang="en-US" altLang="ja-JP" sz="800" dirty="0"/>
              <a:t>※</a:t>
            </a:r>
            <a:r>
              <a:rPr lang="ja-JP" altLang="en-US" sz="800" dirty="0"/>
              <a:t>チームでの応募の場合は代表者名、個人での応募の場合は応募者名を記入してください。</a:t>
            </a:r>
          </a:p>
        </p:txBody>
      </p:sp>
      <p:graphicFrame>
        <p:nvGraphicFramePr>
          <p:cNvPr id="17" name="表 1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770885892"/>
              </p:ext>
            </p:extLst>
          </p:nvPr>
        </p:nvGraphicFramePr>
        <p:xfrm>
          <a:off x="273284" y="4928657"/>
          <a:ext cx="8629815" cy="5687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134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6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8757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dirty="0"/>
                        <a:t>チーム名</a:t>
                      </a:r>
                    </a:p>
                  </a:txBody>
                  <a:tcPr marL="176107" marR="176107" marT="88053" marB="880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176107" marR="176107" marT="88053" marB="880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テキスト ボックス 17"/>
          <p:cNvSpPr txBox="1"/>
          <p:nvPr userDrawn="1"/>
        </p:nvSpPr>
        <p:spPr>
          <a:xfrm>
            <a:off x="137160" y="4590103"/>
            <a:ext cx="88696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800" dirty="0"/>
              <a:t> </a:t>
            </a:r>
            <a:r>
              <a:rPr lang="en-US" altLang="ja-JP" sz="800" dirty="0"/>
              <a:t>※</a:t>
            </a:r>
            <a:r>
              <a:rPr lang="ja-JP" altLang="en-US" sz="800" dirty="0"/>
              <a:t>チームでの応募の場合はチーム名を記入してください。</a:t>
            </a:r>
          </a:p>
        </p:txBody>
      </p:sp>
      <p:sp>
        <p:nvSpPr>
          <p:cNvPr id="19" name="テキスト ボックス 18"/>
          <p:cNvSpPr txBox="1"/>
          <p:nvPr userDrawn="1"/>
        </p:nvSpPr>
        <p:spPr>
          <a:xfrm>
            <a:off x="2222640" y="156084"/>
            <a:ext cx="4698722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3200" dirty="0"/>
              <a:t>フレッシュ</a:t>
            </a:r>
            <a:r>
              <a:rPr lang="en-US" altLang="ja-JP" sz="3200" dirty="0"/>
              <a:t>IT</a:t>
            </a:r>
            <a:r>
              <a:rPr lang="ja-JP" altLang="en-US" sz="3200" dirty="0"/>
              <a:t>あわ～</a:t>
            </a:r>
            <a:r>
              <a:rPr lang="ja-JP" altLang="en-US" sz="3200"/>
              <a:t>ど</a:t>
            </a:r>
            <a:r>
              <a:rPr lang="en-US" altLang="ja-JP" sz="3600" dirty="0"/>
              <a:t>2026</a:t>
            </a:r>
            <a:br>
              <a:rPr kumimoji="1" lang="en-US" altLang="ja-JP" sz="3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ja-JP" altLang="en-US" sz="3200" dirty="0"/>
              <a:t>応募企画書＜作品部門＞</a:t>
            </a:r>
            <a:endParaRPr kumimoji="1" lang="ja-JP" altLang="en-US" sz="3200" dirty="0"/>
          </a:p>
        </p:txBody>
      </p:sp>
      <p:sp>
        <p:nvSpPr>
          <p:cNvPr id="26" name="テキスト プレースホルダー 25"/>
          <p:cNvSpPr>
            <a:spLocks noGrp="1"/>
          </p:cNvSpPr>
          <p:nvPr>
            <p:ph type="body" sz="quarter" idx="10"/>
          </p:nvPr>
        </p:nvSpPr>
        <p:spPr>
          <a:xfrm>
            <a:off x="1889978" y="1233410"/>
            <a:ext cx="7013121" cy="920750"/>
          </a:xfrm>
        </p:spPr>
        <p:txBody>
          <a:bodyPr anchor="ctr" anchorCtr="1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29" name="テキスト プレースホルダー 25"/>
          <p:cNvSpPr>
            <a:spLocks noGrp="1"/>
          </p:cNvSpPr>
          <p:nvPr>
            <p:ph type="body" sz="quarter" idx="11"/>
          </p:nvPr>
        </p:nvSpPr>
        <p:spPr>
          <a:xfrm>
            <a:off x="1889978" y="2881022"/>
            <a:ext cx="7013120" cy="421898"/>
          </a:xfrm>
        </p:spPr>
        <p:txBody>
          <a:bodyPr anchor="ctr" anchorCtr="1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30" name="テキスト プレースホルダー 25"/>
          <p:cNvSpPr>
            <a:spLocks noGrp="1"/>
          </p:cNvSpPr>
          <p:nvPr>
            <p:ph type="body" sz="quarter" idx="12"/>
          </p:nvPr>
        </p:nvSpPr>
        <p:spPr>
          <a:xfrm>
            <a:off x="1889978" y="3333337"/>
            <a:ext cx="4384221" cy="600996"/>
          </a:xfrm>
        </p:spPr>
        <p:txBody>
          <a:bodyPr anchor="ctr" anchorCtr="1"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31" name="テキスト プレースホルダー 25"/>
          <p:cNvSpPr>
            <a:spLocks noGrp="1"/>
          </p:cNvSpPr>
          <p:nvPr>
            <p:ph type="body" sz="quarter" idx="13"/>
          </p:nvPr>
        </p:nvSpPr>
        <p:spPr>
          <a:xfrm>
            <a:off x="7146753" y="3314523"/>
            <a:ext cx="1756346" cy="619810"/>
          </a:xfrm>
        </p:spPr>
        <p:txBody>
          <a:bodyPr anchor="ctr" anchorCtr="1">
            <a:no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32" name="テキスト プレースホルダー 25"/>
          <p:cNvSpPr>
            <a:spLocks noGrp="1"/>
          </p:cNvSpPr>
          <p:nvPr>
            <p:ph type="body" sz="quarter" idx="14"/>
          </p:nvPr>
        </p:nvSpPr>
        <p:spPr>
          <a:xfrm>
            <a:off x="1889977" y="3934333"/>
            <a:ext cx="7013121" cy="595810"/>
          </a:xfrm>
        </p:spPr>
        <p:txBody>
          <a:bodyPr anchor="ctr" anchorCtr="1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33" name="テキスト プレースホルダー 25"/>
          <p:cNvSpPr>
            <a:spLocks noGrp="1"/>
          </p:cNvSpPr>
          <p:nvPr>
            <p:ph type="body" sz="quarter" idx="15"/>
          </p:nvPr>
        </p:nvSpPr>
        <p:spPr>
          <a:xfrm>
            <a:off x="1889976" y="4920825"/>
            <a:ext cx="7013121" cy="578914"/>
          </a:xfrm>
        </p:spPr>
        <p:txBody>
          <a:bodyPr anchor="ctr" anchorCtr="1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graphicFrame>
        <p:nvGraphicFramePr>
          <p:cNvPr id="20" name="表 19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4086444"/>
              </p:ext>
            </p:extLst>
          </p:nvPr>
        </p:nvGraphicFramePr>
        <p:xfrm>
          <a:off x="273284" y="5632582"/>
          <a:ext cx="8629815" cy="11375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74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552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8757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200" dirty="0"/>
                        <a:t>動作確認したモバイル機器およびエミュレータ</a:t>
                      </a:r>
                    </a:p>
                  </a:txBody>
                  <a:tcPr marL="176107" marR="176107" marT="88053" marB="880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176107" marR="176107" marT="88053" marB="880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757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200" dirty="0"/>
                        <a:t>動作の確認ができる</a:t>
                      </a:r>
                      <a:r>
                        <a:rPr kumimoji="1" lang="en-US" altLang="ja-JP" sz="1200" dirty="0"/>
                        <a:t>URL</a:t>
                      </a:r>
                      <a:r>
                        <a:rPr kumimoji="1" lang="ja-JP" altLang="en-US" sz="1200" dirty="0"/>
                        <a:t>（</a:t>
                      </a:r>
                      <a:r>
                        <a:rPr kumimoji="1" lang="en-US" altLang="ja-JP" sz="1200" dirty="0"/>
                        <a:t>HTML</a:t>
                      </a:r>
                      <a:r>
                        <a:rPr kumimoji="1" lang="ja-JP" altLang="en-US" sz="1200" dirty="0"/>
                        <a:t>作品の場合）</a:t>
                      </a:r>
                    </a:p>
                  </a:txBody>
                  <a:tcPr marL="176107" marR="176107" marT="88053" marB="880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176107" marR="176107" marT="88053" marB="880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" name="テキスト プレースホルダー 25"/>
          <p:cNvSpPr>
            <a:spLocks noGrp="1"/>
          </p:cNvSpPr>
          <p:nvPr>
            <p:ph type="body" sz="quarter" idx="16"/>
          </p:nvPr>
        </p:nvSpPr>
        <p:spPr>
          <a:xfrm>
            <a:off x="3535680" y="5630257"/>
            <a:ext cx="5367418" cy="578914"/>
          </a:xfrm>
        </p:spPr>
        <p:txBody>
          <a:bodyPr anchor="ctr" anchorCtr="1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24" name="テキスト プレースホルダー 25"/>
          <p:cNvSpPr>
            <a:spLocks noGrp="1"/>
          </p:cNvSpPr>
          <p:nvPr>
            <p:ph type="body" sz="quarter" idx="17"/>
          </p:nvPr>
        </p:nvSpPr>
        <p:spPr>
          <a:xfrm>
            <a:off x="3535679" y="6184636"/>
            <a:ext cx="5371418" cy="578914"/>
          </a:xfrm>
        </p:spPr>
        <p:txBody>
          <a:bodyPr anchor="ctr" anchorCtr="1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21" name="テキスト プレースホルダー 25"/>
          <p:cNvSpPr>
            <a:spLocks noGrp="1"/>
          </p:cNvSpPr>
          <p:nvPr>
            <p:ph type="body" sz="quarter" idx="18"/>
          </p:nvPr>
        </p:nvSpPr>
        <p:spPr>
          <a:xfrm>
            <a:off x="1889977" y="2626593"/>
            <a:ext cx="7013120" cy="258112"/>
          </a:xfrm>
        </p:spPr>
        <p:txBody>
          <a:bodyPr anchor="ctr" anchorCtr="1">
            <a:no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EDD166F4-A616-B3A6-3F95-6EFA1C636586}"/>
              </a:ext>
            </a:extLst>
          </p:cNvPr>
          <p:cNvCxnSpPr>
            <a:cxnSpLocks/>
          </p:cNvCxnSpPr>
          <p:nvPr userDrawn="1"/>
        </p:nvCxnSpPr>
        <p:spPr>
          <a:xfrm>
            <a:off x="1889976" y="2873189"/>
            <a:ext cx="7013121" cy="0"/>
          </a:xfrm>
          <a:prstGeom prst="line">
            <a:avLst/>
          </a:prstGeom>
          <a:ln>
            <a:solidFill>
              <a:schemeClr val="tx1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829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コンテンツ プレースホルダー 5"/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4150560639"/>
              </p:ext>
            </p:extLst>
          </p:nvPr>
        </p:nvGraphicFramePr>
        <p:xfrm>
          <a:off x="156411" y="584775"/>
          <a:ext cx="8734926" cy="11282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5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70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3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84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8383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00" dirty="0"/>
                        <a:t>フリガナ</a:t>
                      </a:r>
                      <a:endParaRPr kumimoji="1" lang="en-US" altLang="ja-JP" sz="1000" dirty="0"/>
                    </a:p>
                    <a:p>
                      <a:pPr algn="ctr"/>
                      <a:r>
                        <a:rPr kumimoji="1" lang="ja-JP" altLang="en-US" sz="1600" dirty="0"/>
                        <a:t>氏  名</a:t>
                      </a:r>
                      <a:endParaRPr kumimoji="1" lang="en-US" altLang="ja-JP" sz="1200" dirty="0"/>
                    </a:p>
                  </a:txBody>
                  <a:tcPr marL="176107" marR="176107" marT="88053" marB="880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176107" marR="176107" marT="88053" marB="880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823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dirty="0"/>
                        <a:t>所属学校名</a:t>
                      </a:r>
                    </a:p>
                  </a:txBody>
                  <a:tcPr marL="176107" marR="176107" marT="88053" marB="880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176107" marR="176107" marT="88053" marB="880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学年</a:t>
                      </a:r>
                    </a:p>
                  </a:txBody>
                  <a:tcPr marL="176107" marR="176107" marT="88053" marB="880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176107" marR="176107" marT="88053" marB="880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テキスト ボックス 6"/>
          <p:cNvSpPr txBox="1"/>
          <p:nvPr userDrawn="1"/>
        </p:nvSpPr>
        <p:spPr>
          <a:xfrm>
            <a:off x="137160" y="0"/>
            <a:ext cx="88696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800" dirty="0"/>
              <a:t> </a:t>
            </a:r>
            <a:r>
              <a:rPr lang="en-US" altLang="ja-JP" sz="800" dirty="0"/>
              <a:t>※</a:t>
            </a:r>
            <a:r>
              <a:rPr lang="ja-JP" altLang="en-US" sz="800" dirty="0"/>
              <a:t>チームでの応募の場合は代表者以外の氏名・所属学校名・学年を記入してください。</a:t>
            </a:r>
            <a:endParaRPr lang="en-US" altLang="ja-JP" sz="1400" dirty="0"/>
          </a:p>
          <a:p>
            <a:r>
              <a:rPr lang="ja-JP" altLang="en-US" sz="800" dirty="0"/>
              <a:t> </a:t>
            </a:r>
            <a:r>
              <a:rPr lang="en-US" altLang="ja-JP" sz="800" dirty="0"/>
              <a:t>※</a:t>
            </a:r>
            <a:r>
              <a:rPr lang="ja-JP" altLang="en-US" sz="800" dirty="0"/>
              <a:t>記入欄が足りない場合にはページを増やしていただいて構いません。</a:t>
            </a:r>
          </a:p>
        </p:txBody>
      </p:sp>
      <p:sp>
        <p:nvSpPr>
          <p:cNvPr id="12" name="テキスト プレースホルダー 25"/>
          <p:cNvSpPr>
            <a:spLocks noGrp="1"/>
          </p:cNvSpPr>
          <p:nvPr>
            <p:ph type="body" sz="quarter" idx="10"/>
          </p:nvPr>
        </p:nvSpPr>
        <p:spPr>
          <a:xfrm>
            <a:off x="1769502" y="832330"/>
            <a:ext cx="7121835" cy="365666"/>
          </a:xfrm>
        </p:spPr>
        <p:txBody>
          <a:bodyPr anchor="ctr" anchorCtr="1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13" name="テキスト プレースホルダー 25"/>
          <p:cNvSpPr>
            <a:spLocks noGrp="1"/>
          </p:cNvSpPr>
          <p:nvPr>
            <p:ph type="body" sz="quarter" idx="11"/>
          </p:nvPr>
        </p:nvSpPr>
        <p:spPr>
          <a:xfrm>
            <a:off x="1769501" y="1227220"/>
            <a:ext cx="4523015" cy="468000"/>
          </a:xfrm>
        </p:spPr>
        <p:txBody>
          <a:bodyPr anchor="ctr" anchorCtr="1"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15" name="テキスト プレースホルダー 25"/>
          <p:cNvSpPr>
            <a:spLocks noGrp="1"/>
          </p:cNvSpPr>
          <p:nvPr>
            <p:ph type="body" sz="quarter" idx="12"/>
          </p:nvPr>
        </p:nvSpPr>
        <p:spPr>
          <a:xfrm>
            <a:off x="7182853" y="1207265"/>
            <a:ext cx="1708484" cy="468000"/>
          </a:xfrm>
        </p:spPr>
        <p:txBody>
          <a:bodyPr anchor="ctr" anchorCtr="1">
            <a:no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graphicFrame>
        <p:nvGraphicFramePr>
          <p:cNvPr id="16" name="コンテンツ プレースホルダー 5"/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474004455"/>
              </p:ext>
            </p:extLst>
          </p:nvPr>
        </p:nvGraphicFramePr>
        <p:xfrm>
          <a:off x="156411" y="1811995"/>
          <a:ext cx="8734926" cy="11282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5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70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3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84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8383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00" dirty="0"/>
                        <a:t>フリガナ</a:t>
                      </a:r>
                      <a:endParaRPr kumimoji="1" lang="en-US" altLang="ja-JP" sz="1000" dirty="0"/>
                    </a:p>
                    <a:p>
                      <a:pPr algn="ctr"/>
                      <a:r>
                        <a:rPr kumimoji="1" lang="ja-JP" altLang="en-US" sz="1600" dirty="0"/>
                        <a:t>氏  名</a:t>
                      </a:r>
                      <a:endParaRPr kumimoji="1" lang="en-US" altLang="ja-JP" sz="1200" dirty="0"/>
                    </a:p>
                  </a:txBody>
                  <a:tcPr marL="176107" marR="176107" marT="88053" marB="880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176107" marR="176107" marT="88053" marB="880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823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dirty="0"/>
                        <a:t>所属学校名</a:t>
                      </a:r>
                    </a:p>
                  </a:txBody>
                  <a:tcPr marL="176107" marR="176107" marT="88053" marB="880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176107" marR="176107" marT="88053" marB="880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学年</a:t>
                      </a:r>
                    </a:p>
                  </a:txBody>
                  <a:tcPr marL="176107" marR="176107" marT="88053" marB="880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176107" marR="176107" marT="88053" marB="880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テキスト プレースホルダー 25"/>
          <p:cNvSpPr>
            <a:spLocks noGrp="1"/>
          </p:cNvSpPr>
          <p:nvPr>
            <p:ph type="body" sz="quarter" idx="14"/>
          </p:nvPr>
        </p:nvSpPr>
        <p:spPr>
          <a:xfrm>
            <a:off x="1769501" y="2454440"/>
            <a:ext cx="4523015" cy="468000"/>
          </a:xfrm>
        </p:spPr>
        <p:txBody>
          <a:bodyPr anchor="ctr" anchorCtr="1"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19" name="テキスト プレースホルダー 25"/>
          <p:cNvSpPr>
            <a:spLocks noGrp="1"/>
          </p:cNvSpPr>
          <p:nvPr>
            <p:ph type="body" sz="quarter" idx="15"/>
          </p:nvPr>
        </p:nvSpPr>
        <p:spPr>
          <a:xfrm>
            <a:off x="7182853" y="2434485"/>
            <a:ext cx="1708484" cy="468000"/>
          </a:xfrm>
        </p:spPr>
        <p:txBody>
          <a:bodyPr anchor="ctr" anchorCtr="1">
            <a:no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graphicFrame>
        <p:nvGraphicFramePr>
          <p:cNvPr id="20" name="コンテンツ プレースホルダー 5"/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2184918059"/>
              </p:ext>
            </p:extLst>
          </p:nvPr>
        </p:nvGraphicFramePr>
        <p:xfrm>
          <a:off x="156411" y="3040744"/>
          <a:ext cx="8734926" cy="11282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5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70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3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84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8383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00" dirty="0"/>
                        <a:t>フリガナ</a:t>
                      </a:r>
                      <a:endParaRPr kumimoji="1" lang="en-US" altLang="ja-JP" sz="1000" dirty="0"/>
                    </a:p>
                    <a:p>
                      <a:pPr algn="ctr"/>
                      <a:r>
                        <a:rPr kumimoji="1" lang="ja-JP" altLang="en-US" sz="1600" dirty="0"/>
                        <a:t>氏  名</a:t>
                      </a:r>
                      <a:endParaRPr kumimoji="1" lang="en-US" altLang="ja-JP" sz="1200" dirty="0"/>
                    </a:p>
                  </a:txBody>
                  <a:tcPr marL="176107" marR="176107" marT="88053" marB="880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176107" marR="176107" marT="88053" marB="880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823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dirty="0"/>
                        <a:t>所属学校名</a:t>
                      </a:r>
                    </a:p>
                  </a:txBody>
                  <a:tcPr marL="176107" marR="176107" marT="88053" marB="880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176107" marR="176107" marT="88053" marB="880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学年</a:t>
                      </a:r>
                    </a:p>
                  </a:txBody>
                  <a:tcPr marL="176107" marR="176107" marT="88053" marB="880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176107" marR="176107" marT="88053" marB="880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" name="テキスト プレースホルダー 25"/>
          <p:cNvSpPr>
            <a:spLocks noGrp="1"/>
          </p:cNvSpPr>
          <p:nvPr>
            <p:ph type="body" sz="quarter" idx="17"/>
          </p:nvPr>
        </p:nvSpPr>
        <p:spPr>
          <a:xfrm>
            <a:off x="1769501" y="3683189"/>
            <a:ext cx="4523015" cy="468000"/>
          </a:xfrm>
        </p:spPr>
        <p:txBody>
          <a:bodyPr anchor="ctr" anchorCtr="1"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23" name="テキスト プレースホルダー 25"/>
          <p:cNvSpPr>
            <a:spLocks noGrp="1"/>
          </p:cNvSpPr>
          <p:nvPr>
            <p:ph type="body" sz="quarter" idx="18"/>
          </p:nvPr>
        </p:nvSpPr>
        <p:spPr>
          <a:xfrm>
            <a:off x="7182853" y="3663234"/>
            <a:ext cx="1708484" cy="468000"/>
          </a:xfrm>
        </p:spPr>
        <p:txBody>
          <a:bodyPr anchor="ctr" anchorCtr="1">
            <a:no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graphicFrame>
        <p:nvGraphicFramePr>
          <p:cNvPr id="24" name="コンテンツ プレースホルダー 5"/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641701743"/>
              </p:ext>
            </p:extLst>
          </p:nvPr>
        </p:nvGraphicFramePr>
        <p:xfrm>
          <a:off x="156411" y="4267964"/>
          <a:ext cx="8734926" cy="11282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5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70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3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84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8383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00" dirty="0"/>
                        <a:t>フリガナ</a:t>
                      </a:r>
                      <a:endParaRPr kumimoji="1" lang="en-US" altLang="ja-JP" sz="1000" dirty="0"/>
                    </a:p>
                    <a:p>
                      <a:pPr algn="ctr"/>
                      <a:r>
                        <a:rPr kumimoji="1" lang="ja-JP" altLang="en-US" sz="1600" dirty="0"/>
                        <a:t>氏  名</a:t>
                      </a:r>
                      <a:endParaRPr kumimoji="1" lang="en-US" altLang="ja-JP" sz="1200" dirty="0"/>
                    </a:p>
                  </a:txBody>
                  <a:tcPr marL="176107" marR="176107" marT="88053" marB="880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176107" marR="176107" marT="88053" marB="880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823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dirty="0"/>
                        <a:t>所属学校名</a:t>
                      </a:r>
                    </a:p>
                  </a:txBody>
                  <a:tcPr marL="176107" marR="176107" marT="88053" marB="880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176107" marR="176107" marT="88053" marB="880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学年</a:t>
                      </a:r>
                    </a:p>
                  </a:txBody>
                  <a:tcPr marL="176107" marR="176107" marT="88053" marB="880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176107" marR="176107" marT="88053" marB="880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6" name="テキスト プレースホルダー 25"/>
          <p:cNvSpPr>
            <a:spLocks noGrp="1"/>
          </p:cNvSpPr>
          <p:nvPr>
            <p:ph type="body" sz="quarter" idx="20"/>
          </p:nvPr>
        </p:nvSpPr>
        <p:spPr>
          <a:xfrm>
            <a:off x="1769501" y="4910409"/>
            <a:ext cx="4523015" cy="468000"/>
          </a:xfrm>
        </p:spPr>
        <p:txBody>
          <a:bodyPr anchor="ctr" anchorCtr="1"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27" name="テキスト プレースホルダー 25"/>
          <p:cNvSpPr>
            <a:spLocks noGrp="1"/>
          </p:cNvSpPr>
          <p:nvPr>
            <p:ph type="body" sz="quarter" idx="21"/>
          </p:nvPr>
        </p:nvSpPr>
        <p:spPr>
          <a:xfrm>
            <a:off x="7182853" y="4890454"/>
            <a:ext cx="1708484" cy="468000"/>
          </a:xfrm>
        </p:spPr>
        <p:txBody>
          <a:bodyPr anchor="ctr" anchorCtr="1">
            <a:no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graphicFrame>
        <p:nvGraphicFramePr>
          <p:cNvPr id="28" name="コンテンツ プレースホルダー 5"/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4173661227"/>
              </p:ext>
            </p:extLst>
          </p:nvPr>
        </p:nvGraphicFramePr>
        <p:xfrm>
          <a:off x="156411" y="5494418"/>
          <a:ext cx="8734926" cy="11282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5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70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3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84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8383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00" dirty="0"/>
                        <a:t>フリガナ</a:t>
                      </a:r>
                      <a:endParaRPr kumimoji="1" lang="en-US" altLang="ja-JP" sz="1000" dirty="0"/>
                    </a:p>
                    <a:p>
                      <a:pPr algn="ctr"/>
                      <a:r>
                        <a:rPr kumimoji="1" lang="ja-JP" altLang="en-US" sz="1600" dirty="0"/>
                        <a:t>氏  名</a:t>
                      </a:r>
                      <a:endParaRPr kumimoji="1" lang="en-US" altLang="ja-JP" sz="1200" dirty="0"/>
                    </a:p>
                  </a:txBody>
                  <a:tcPr marL="176107" marR="176107" marT="88053" marB="880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176107" marR="176107" marT="88053" marB="880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823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dirty="0"/>
                        <a:t>所属学校名</a:t>
                      </a:r>
                    </a:p>
                  </a:txBody>
                  <a:tcPr marL="176107" marR="176107" marT="88053" marB="880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176107" marR="176107" marT="88053" marB="880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/>
                        <a:t>学年</a:t>
                      </a:r>
                    </a:p>
                  </a:txBody>
                  <a:tcPr marL="176107" marR="176107" marT="88053" marB="880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 dirty="0"/>
                    </a:p>
                  </a:txBody>
                  <a:tcPr marL="176107" marR="176107" marT="88053" marB="880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" name="テキスト プレースホルダー 25"/>
          <p:cNvSpPr>
            <a:spLocks noGrp="1"/>
          </p:cNvSpPr>
          <p:nvPr>
            <p:ph type="body" sz="quarter" idx="23"/>
          </p:nvPr>
        </p:nvSpPr>
        <p:spPr>
          <a:xfrm>
            <a:off x="1769501" y="6136863"/>
            <a:ext cx="4523015" cy="468000"/>
          </a:xfrm>
        </p:spPr>
        <p:txBody>
          <a:bodyPr anchor="ctr" anchorCtr="1"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31" name="テキスト プレースホルダー 25"/>
          <p:cNvSpPr>
            <a:spLocks noGrp="1"/>
          </p:cNvSpPr>
          <p:nvPr>
            <p:ph type="body" sz="quarter" idx="24"/>
          </p:nvPr>
        </p:nvSpPr>
        <p:spPr>
          <a:xfrm>
            <a:off x="7182853" y="6116908"/>
            <a:ext cx="1708484" cy="468000"/>
          </a:xfrm>
        </p:spPr>
        <p:txBody>
          <a:bodyPr anchor="ctr" anchorCtr="1">
            <a:no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B6702099-A5A5-413B-B418-9A4D179C2804}"/>
              </a:ext>
            </a:extLst>
          </p:cNvPr>
          <p:cNvCxnSpPr>
            <a:cxnSpLocks/>
          </p:cNvCxnSpPr>
          <p:nvPr userDrawn="1"/>
        </p:nvCxnSpPr>
        <p:spPr>
          <a:xfrm>
            <a:off x="1769502" y="832676"/>
            <a:ext cx="7121835" cy="500"/>
          </a:xfrm>
          <a:prstGeom prst="line">
            <a:avLst/>
          </a:prstGeom>
          <a:ln>
            <a:solidFill>
              <a:schemeClr val="tx1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テキスト プレースホルダー 41">
            <a:extLst>
              <a:ext uri="{FF2B5EF4-FFF2-40B4-BE49-F238E27FC236}">
                <a16:creationId xmlns:a16="http://schemas.microsoft.com/office/drawing/2014/main" id="{0B87B6C0-D612-4CE4-BA37-FFA48E7F5F1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767025" y="582499"/>
            <a:ext cx="7134225" cy="237974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1B69B6C9-8879-9837-84D0-962CF647DA16}"/>
              </a:ext>
            </a:extLst>
          </p:cNvPr>
          <p:cNvCxnSpPr>
            <a:cxnSpLocks/>
          </p:cNvCxnSpPr>
          <p:nvPr userDrawn="1"/>
        </p:nvCxnSpPr>
        <p:spPr>
          <a:xfrm>
            <a:off x="1767025" y="2068809"/>
            <a:ext cx="7121835" cy="500"/>
          </a:xfrm>
          <a:prstGeom prst="line">
            <a:avLst/>
          </a:prstGeom>
          <a:ln>
            <a:solidFill>
              <a:schemeClr val="tx1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D5A84009-BC2F-A064-C484-0D94CE72C6A4}"/>
              </a:ext>
            </a:extLst>
          </p:cNvPr>
          <p:cNvCxnSpPr>
            <a:cxnSpLocks/>
          </p:cNvCxnSpPr>
          <p:nvPr userDrawn="1"/>
        </p:nvCxnSpPr>
        <p:spPr>
          <a:xfrm>
            <a:off x="1767024" y="3307071"/>
            <a:ext cx="7121835" cy="500"/>
          </a:xfrm>
          <a:prstGeom prst="line">
            <a:avLst/>
          </a:prstGeom>
          <a:ln>
            <a:solidFill>
              <a:schemeClr val="tx1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7AD976BB-2F52-3C97-5E2D-E5E0B773B1C5}"/>
              </a:ext>
            </a:extLst>
          </p:cNvPr>
          <p:cNvCxnSpPr>
            <a:cxnSpLocks/>
          </p:cNvCxnSpPr>
          <p:nvPr userDrawn="1"/>
        </p:nvCxnSpPr>
        <p:spPr>
          <a:xfrm>
            <a:off x="1767023" y="4526297"/>
            <a:ext cx="7121835" cy="500"/>
          </a:xfrm>
          <a:prstGeom prst="line">
            <a:avLst/>
          </a:prstGeom>
          <a:ln>
            <a:solidFill>
              <a:schemeClr val="tx1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490E060A-7CC8-1E14-35CB-6C7ABE40056D}"/>
              </a:ext>
            </a:extLst>
          </p:cNvPr>
          <p:cNvCxnSpPr>
            <a:cxnSpLocks/>
          </p:cNvCxnSpPr>
          <p:nvPr userDrawn="1"/>
        </p:nvCxnSpPr>
        <p:spPr>
          <a:xfrm>
            <a:off x="1767022" y="5739401"/>
            <a:ext cx="7121835" cy="500"/>
          </a:xfrm>
          <a:prstGeom prst="line">
            <a:avLst/>
          </a:prstGeom>
          <a:ln>
            <a:solidFill>
              <a:schemeClr val="tx1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テキスト プレースホルダー 41">
            <a:extLst>
              <a:ext uri="{FF2B5EF4-FFF2-40B4-BE49-F238E27FC236}">
                <a16:creationId xmlns:a16="http://schemas.microsoft.com/office/drawing/2014/main" id="{9B4608D9-A778-C1A4-8C1B-D47CD233F3B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767025" y="1820559"/>
            <a:ext cx="7134225" cy="237974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50" name="テキスト プレースホルダー 41">
            <a:extLst>
              <a:ext uri="{FF2B5EF4-FFF2-40B4-BE49-F238E27FC236}">
                <a16:creationId xmlns:a16="http://schemas.microsoft.com/office/drawing/2014/main" id="{00491A2F-4C47-5098-84E7-529C2A5FA5F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754632" y="3049879"/>
            <a:ext cx="7134225" cy="237974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51" name="テキスト プレースホルダー 41">
            <a:extLst>
              <a:ext uri="{FF2B5EF4-FFF2-40B4-BE49-F238E27FC236}">
                <a16:creationId xmlns:a16="http://schemas.microsoft.com/office/drawing/2014/main" id="{8153A4C7-36D1-C428-8179-C5D7D7A183AB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754632" y="4277185"/>
            <a:ext cx="7134225" cy="237974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52" name="テキスト プレースホルダー 41">
            <a:extLst>
              <a:ext uri="{FF2B5EF4-FFF2-40B4-BE49-F238E27FC236}">
                <a16:creationId xmlns:a16="http://schemas.microsoft.com/office/drawing/2014/main" id="{568F46E3-94B5-6DA9-993A-84E86DF2E5F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754631" y="5503430"/>
            <a:ext cx="7134225" cy="237974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53" name="テキスト プレースホルダー 25">
            <a:extLst>
              <a:ext uri="{FF2B5EF4-FFF2-40B4-BE49-F238E27FC236}">
                <a16:creationId xmlns:a16="http://schemas.microsoft.com/office/drawing/2014/main" id="{1276771A-D464-90D8-8CFA-81E0889F8E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760825" y="5741404"/>
            <a:ext cx="7121835" cy="365666"/>
          </a:xfrm>
        </p:spPr>
        <p:txBody>
          <a:bodyPr anchor="ctr" anchorCtr="1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54" name="テキスト プレースホルダー 25">
            <a:extLst>
              <a:ext uri="{FF2B5EF4-FFF2-40B4-BE49-F238E27FC236}">
                <a16:creationId xmlns:a16="http://schemas.microsoft.com/office/drawing/2014/main" id="{97F5788E-F5DB-2D18-C5B6-E465A1676A0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752152" y="4533402"/>
            <a:ext cx="7121835" cy="365666"/>
          </a:xfrm>
        </p:spPr>
        <p:txBody>
          <a:bodyPr anchor="ctr" anchorCtr="1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55" name="テキスト プレースホルダー 25">
            <a:extLst>
              <a:ext uri="{FF2B5EF4-FFF2-40B4-BE49-F238E27FC236}">
                <a16:creationId xmlns:a16="http://schemas.microsoft.com/office/drawing/2014/main" id="{038AEFF1-6C51-6AFF-FCBB-667CCE3C144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779415" y="3315746"/>
            <a:ext cx="7121835" cy="365666"/>
          </a:xfrm>
        </p:spPr>
        <p:txBody>
          <a:bodyPr anchor="ctr" anchorCtr="1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56" name="テキスト プレースホルダー 25">
            <a:extLst>
              <a:ext uri="{FF2B5EF4-FFF2-40B4-BE49-F238E27FC236}">
                <a16:creationId xmlns:a16="http://schemas.microsoft.com/office/drawing/2014/main" id="{284956F2-14D2-B729-D187-C3EC32F2B95B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769502" y="2083855"/>
            <a:ext cx="7121835" cy="365666"/>
          </a:xfrm>
        </p:spPr>
        <p:txBody>
          <a:bodyPr anchor="ctr" anchorCtr="1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793617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ボックス 6"/>
          <p:cNvSpPr txBox="1"/>
          <p:nvPr userDrawn="1"/>
        </p:nvSpPr>
        <p:spPr>
          <a:xfrm>
            <a:off x="137160" y="594447"/>
            <a:ext cx="88696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800" dirty="0"/>
              <a:t>※</a:t>
            </a:r>
            <a:r>
              <a:rPr kumimoji="1" lang="ja-JP" altLang="en-US" sz="800" dirty="0"/>
              <a:t>作品の概要をイラストや表を用いて説明してください。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96253" y="902224"/>
            <a:ext cx="8891336" cy="58474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/>
          <p:cNvSpPr txBox="1"/>
          <p:nvPr userDrawn="1"/>
        </p:nvSpPr>
        <p:spPr>
          <a:xfrm>
            <a:off x="96253" y="9672"/>
            <a:ext cx="69494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作品概要</a:t>
            </a:r>
          </a:p>
        </p:txBody>
      </p:sp>
    </p:spTree>
    <p:extLst>
      <p:ext uri="{BB962C8B-B14F-4D97-AF65-F5344CB8AC3E}">
        <p14:creationId xmlns:p14="http://schemas.microsoft.com/office/powerpoint/2010/main" val="3094937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ボックス 6"/>
          <p:cNvSpPr txBox="1"/>
          <p:nvPr userDrawn="1"/>
        </p:nvSpPr>
        <p:spPr>
          <a:xfrm>
            <a:off x="96253" y="594447"/>
            <a:ext cx="9147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800" dirty="0"/>
              <a:t>※</a:t>
            </a:r>
            <a:r>
              <a:rPr lang="ja-JP" altLang="en-US" sz="800" dirty="0"/>
              <a:t>どのような経緯でこの作品を思いついたか（自身の体験談等）やポイント</a:t>
            </a:r>
            <a:r>
              <a:rPr kumimoji="1" lang="ja-JP" altLang="en-US" sz="800" dirty="0"/>
              <a:t>を</a:t>
            </a:r>
            <a:r>
              <a:rPr lang="ja-JP" altLang="en-US" sz="800" dirty="0">
                <a:latin typeface="MS PGothic"/>
                <a:cs typeface="MS PGothic"/>
              </a:rPr>
              <a:t>イラストや表などを</a:t>
            </a:r>
            <a:r>
              <a:rPr lang="ja-JP" altLang="en-US" sz="800" dirty="0"/>
              <a:t>使って</a:t>
            </a:r>
            <a:r>
              <a:rPr kumimoji="1" lang="ja-JP" altLang="en-US" sz="800" dirty="0"/>
              <a:t>説明してください。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96253" y="902224"/>
            <a:ext cx="8891336" cy="58474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/>
          <p:cNvSpPr txBox="1"/>
          <p:nvPr userDrawn="1"/>
        </p:nvSpPr>
        <p:spPr>
          <a:xfrm>
            <a:off x="96253" y="26002"/>
            <a:ext cx="69494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dirty="0"/>
              <a:t>作品のきっかけやポイント</a:t>
            </a:r>
          </a:p>
        </p:txBody>
      </p:sp>
    </p:spTree>
    <p:extLst>
      <p:ext uri="{BB962C8B-B14F-4D97-AF65-F5344CB8AC3E}">
        <p14:creationId xmlns:p14="http://schemas.microsoft.com/office/powerpoint/2010/main" val="3289800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ボックス 6"/>
          <p:cNvSpPr txBox="1"/>
          <p:nvPr userDrawn="1"/>
        </p:nvSpPr>
        <p:spPr>
          <a:xfrm>
            <a:off x="137160" y="563670"/>
            <a:ext cx="88696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800" dirty="0"/>
              <a:t>※</a:t>
            </a:r>
            <a:r>
              <a:rPr kumimoji="1" lang="ja-JP" altLang="en-US" sz="800" dirty="0"/>
              <a:t>既存のアプリ・システムとの違い（何が新しいか）を</a:t>
            </a:r>
            <a:r>
              <a:rPr lang="ja-JP" altLang="en-US" sz="800" dirty="0"/>
              <a:t>必要に応じてイラストや表を使って</a:t>
            </a:r>
            <a:r>
              <a:rPr kumimoji="1" lang="ja-JP" altLang="en-US" sz="800" dirty="0"/>
              <a:t>説明してください。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96253" y="871447"/>
            <a:ext cx="8891336" cy="58782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/>
          <p:cNvSpPr txBox="1"/>
          <p:nvPr userDrawn="1"/>
        </p:nvSpPr>
        <p:spPr>
          <a:xfrm>
            <a:off x="61973" y="59252"/>
            <a:ext cx="69494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作品の新規性</a:t>
            </a:r>
          </a:p>
        </p:txBody>
      </p:sp>
    </p:spTree>
    <p:extLst>
      <p:ext uri="{BB962C8B-B14F-4D97-AF65-F5344CB8AC3E}">
        <p14:creationId xmlns:p14="http://schemas.microsoft.com/office/powerpoint/2010/main" val="4250340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ボックス 6"/>
          <p:cNvSpPr txBox="1"/>
          <p:nvPr userDrawn="1"/>
        </p:nvSpPr>
        <p:spPr>
          <a:xfrm>
            <a:off x="137160" y="563670"/>
            <a:ext cx="88696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800" dirty="0"/>
              <a:t>※</a:t>
            </a:r>
            <a:r>
              <a:rPr lang="ja-JP" altLang="en-US" sz="800" dirty="0"/>
              <a:t>作品の特徴や機能を例を挙げて詳細に説明してください。（４ページ以内）</a:t>
            </a:r>
          </a:p>
          <a:p>
            <a:r>
              <a:rPr lang="en-US" altLang="ja-JP" sz="800" dirty="0"/>
              <a:t>(</a:t>
            </a:r>
            <a:r>
              <a:rPr lang="ja-JP" altLang="en-US" sz="800" dirty="0"/>
              <a:t>作品の画面、どのように実行されていくか等の例を図や表を使ってください。</a:t>
            </a:r>
            <a:r>
              <a:rPr lang="en-US" altLang="ja-JP" sz="800" dirty="0"/>
              <a:t>)	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96253" y="1086890"/>
            <a:ext cx="8891336" cy="56628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/>
          <p:cNvSpPr txBox="1"/>
          <p:nvPr userDrawn="1"/>
        </p:nvSpPr>
        <p:spPr>
          <a:xfrm>
            <a:off x="96253" y="9673"/>
            <a:ext cx="69494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作品の機能・特徴（１）</a:t>
            </a:r>
            <a:endParaRPr kumimoji="1" lang="ja-JP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253875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/>
          <p:cNvSpPr/>
          <p:nvPr userDrawn="1"/>
        </p:nvSpPr>
        <p:spPr>
          <a:xfrm>
            <a:off x="96253" y="635862"/>
            <a:ext cx="8891336" cy="61138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/>
          <p:cNvSpPr txBox="1"/>
          <p:nvPr userDrawn="1"/>
        </p:nvSpPr>
        <p:spPr>
          <a:xfrm>
            <a:off x="96253" y="51087"/>
            <a:ext cx="69494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作品の機能・特徴（２）</a:t>
            </a:r>
            <a:endParaRPr kumimoji="1" lang="ja-JP" altLang="en-US" sz="3200" dirty="0"/>
          </a:p>
        </p:txBody>
      </p:sp>
    </p:spTree>
    <p:extLst>
      <p:ext uri="{BB962C8B-B14F-4D97-AF65-F5344CB8AC3E}">
        <p14:creationId xmlns:p14="http://schemas.microsoft.com/office/powerpoint/2010/main" val="879383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/>
          <p:cNvSpPr/>
          <p:nvPr userDrawn="1"/>
        </p:nvSpPr>
        <p:spPr>
          <a:xfrm>
            <a:off x="96253" y="635862"/>
            <a:ext cx="8891336" cy="61138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/>
          <p:cNvSpPr txBox="1"/>
          <p:nvPr userDrawn="1"/>
        </p:nvSpPr>
        <p:spPr>
          <a:xfrm>
            <a:off x="96253" y="51087"/>
            <a:ext cx="69494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作品の機能・特徴（３）</a:t>
            </a:r>
            <a:endParaRPr kumimoji="1" lang="ja-JP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58871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/>
          <p:cNvSpPr/>
          <p:nvPr userDrawn="1"/>
        </p:nvSpPr>
        <p:spPr>
          <a:xfrm>
            <a:off x="96253" y="635862"/>
            <a:ext cx="8891336" cy="61138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/>
          <p:cNvSpPr txBox="1"/>
          <p:nvPr userDrawn="1"/>
        </p:nvSpPr>
        <p:spPr>
          <a:xfrm>
            <a:off x="96253" y="51087"/>
            <a:ext cx="69494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作品の機能・特徴（４）</a:t>
            </a:r>
            <a:endParaRPr kumimoji="1" lang="ja-JP" altLang="en-US" sz="3200" dirty="0"/>
          </a:p>
        </p:txBody>
      </p:sp>
    </p:spTree>
    <p:extLst>
      <p:ext uri="{BB962C8B-B14F-4D97-AF65-F5344CB8AC3E}">
        <p14:creationId xmlns:p14="http://schemas.microsoft.com/office/powerpoint/2010/main" val="79097947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D4501-70AC-4668-A1BF-91C59CF8B088}" type="datetimeFigureOut">
              <a:rPr kumimoji="1" lang="ja-JP" altLang="en-US" smtClean="0"/>
              <a:t>2026/8/4</a:t>
            </a:fld>
            <a:endParaRPr kumimoji="1" lang="ja-JP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20ABFB-6544-46BD-B3DA-7BC50CA8E305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0665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81" r:id="rId2"/>
    <p:sldLayoutId id="2147483673" r:id="rId3"/>
    <p:sldLayoutId id="2147483674" r:id="rId4"/>
    <p:sldLayoutId id="2147483679" r:id="rId5"/>
    <p:sldLayoutId id="2147483675" r:id="rId6"/>
    <p:sldLayoutId id="2147483676" r:id="rId7"/>
    <p:sldLayoutId id="2147483678" r:id="rId8"/>
    <p:sldLayoutId id="214748367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sz="quarter" idx="10"/>
          </p:nvPr>
        </p:nvSpPr>
        <p:spPr>
          <a:xfrm>
            <a:off x="1892807" y="1645920"/>
            <a:ext cx="7013448" cy="475488"/>
          </a:xfrm>
        </p:spPr>
        <p:txBody>
          <a:bodyPr wrap="none">
            <a:noAutofit/>
          </a:bodyPr>
          <a:lstStyle/>
          <a:p>
            <a:r>
              <a:rPr lang="en-US" altLang="ja-JP" dirty="0" sz="2400" b="1"/>
              <a:t>HITOME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1"/>
          </p:nvPr>
        </p:nvSpPr>
        <p:spPr>
          <a:xfrm>
            <a:off x="1889978" y="2896281"/>
            <a:ext cx="7013120" cy="418214"/>
          </a:xfrm>
        </p:spPr>
        <p:txBody>
          <a:bodyPr>
            <a:normAutofit fontScale="92500" lnSpcReduction="10000"/>
          </a:bodyPr>
          <a:lstStyle/>
          <a:p>
            <a:r>
              <a:rPr lang="en-US" altLang="ja-JP" dirty="0"/>
              <a:t>MUHAMMAD ALIF HAMKA</a:t>
            </a:r>
            <a:endParaRPr kumimoji="1" lang="ja-JP" alt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ja-JP" altLang="en-US"/>
              <a:t>山口大学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/>
              <a:t>４</a:t>
            </a:r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ja-JP" dirty="0"/>
              <a:t>f908ffw@yamaguchi-u.ac.jp</a:t>
            </a:r>
            <a:endParaRPr kumimoji="1"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kumimoji="1" lang="en-US" altLang="ja-JP" dirty="0" err="1"/>
              <a:t>Hitomebore</a:t>
            </a:r>
            <a:endParaRPr kumimoji="1" lang="ja-JP" altLang="en-US"/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0" name="テキスト プレースホルダー 9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kumimoji="1" lang="ja-JP" altLang="en-US"/>
              <a:t>ムハンマドアリフハムカ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91642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78177A8C-BBE0-4274-8CAC-ABB6FA40BA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69502" y="871286"/>
            <a:ext cx="7121835" cy="348372"/>
          </a:xfrm>
        </p:spPr>
        <p:txBody>
          <a:bodyPr>
            <a:noAutofit/>
          </a:bodyPr>
          <a:lstStyle/>
          <a:p>
            <a:r>
              <a:rPr sz="1400"/>
              <a:t>福田　要司</a:t>
            </a:r>
            <a:endParaRPr kumimoji="1" lang="ja-JP" altLang="en-US" sz="2400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54D1D92-D425-4647-9690-86DC589E27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200"/>
              <a:t>山口大学</a:t>
            </a:r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B70D0D-ED82-4166-B829-4153C581D0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sz="1200"/>
              <a:t>４</a:t>
            </a:r>
            <a:endParaRPr kumimoji="1"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0750D1A-DD89-4267-B2C7-9F953674ED6C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779415" y="2071326"/>
            <a:ext cx="7121835" cy="325444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sz="1400"/>
              <a:t>Matthew Christie Susanto</a:t>
            </a:r>
            <a:endParaRPr kumimoji="1" lang="ja-JP" altLang="en-US" sz="2400" dirty="0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A025CC2F-D479-474F-9D64-971DC4BAA2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sz="1200"/>
              <a:t>山口大学</a:t>
            </a:r>
            <a:endParaRPr kumimoji="1" lang="ja-JP" altLang="en-US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1AFB1C08-7689-494D-B085-76B764890A1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1200"/>
              <a:t>４</a:t>
            </a:r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CC92DF63-F8AF-44A6-A09F-DB3377728B59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769502" y="3325390"/>
            <a:ext cx="7121835" cy="366005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endParaRPr kumimoji="1" lang="ja-JP" altLang="en-US" dirty="0"/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CA483564-D5C3-4111-8F9D-217E22D5C47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5E253FB7-684A-4D47-9B8D-A1D3035828D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4E8D5697-9142-453C-A93D-47F4E605FD9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769502" y="4513873"/>
            <a:ext cx="7121835" cy="39202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endParaRPr kumimoji="1" lang="ja-JP" altLang="en-US" sz="2400" dirty="0"/>
          </a:p>
        </p:txBody>
      </p:sp>
      <p:sp>
        <p:nvSpPr>
          <p:cNvPr id="12" name="テキスト プレースホルダー 11">
            <a:extLst>
              <a:ext uri="{FF2B5EF4-FFF2-40B4-BE49-F238E27FC236}">
                <a16:creationId xmlns:a16="http://schemas.microsoft.com/office/drawing/2014/main" id="{6ED5967F-2EC3-42A0-8470-1784804794B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7B095313-62CD-4490-AE99-FCBB0DEBB85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4" name="テキスト プレースホルダー 13">
            <a:extLst>
              <a:ext uri="{FF2B5EF4-FFF2-40B4-BE49-F238E27FC236}">
                <a16:creationId xmlns:a16="http://schemas.microsoft.com/office/drawing/2014/main" id="{4F309A56-A637-457B-9653-4C43C5FD90B0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769502" y="5718836"/>
            <a:ext cx="7121835" cy="36035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endParaRPr kumimoji="1" lang="ja-JP" altLang="en-US" sz="2400" dirty="0"/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52ABAD8A-500D-495B-96BE-0FF0780221D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16" name="テキスト プレースホルダー 15">
            <a:extLst>
              <a:ext uri="{FF2B5EF4-FFF2-40B4-BE49-F238E27FC236}">
                <a16:creationId xmlns:a16="http://schemas.microsoft.com/office/drawing/2014/main" id="{9086DB76-DD7B-4DCA-A311-3672FBEFD7D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7" name="テキスト プレースホルダー 16">
            <a:extLst>
              <a:ext uri="{FF2B5EF4-FFF2-40B4-BE49-F238E27FC236}">
                <a16:creationId xmlns:a16="http://schemas.microsoft.com/office/drawing/2014/main" id="{3AFCC665-D971-46D3-AAFD-B65705D69749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769501" y="1808861"/>
            <a:ext cx="7134225" cy="25490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sz="900"/>
              <a:t>マシュー　クリスティ　スサント</a:t>
            </a:r>
            <a:endParaRPr kumimoji="1" lang="ja-JP" altLang="en-US" sz="1200" dirty="0"/>
          </a:p>
        </p:txBody>
      </p:sp>
      <p:sp>
        <p:nvSpPr>
          <p:cNvPr id="18" name="テキスト プレースホルダー 17">
            <a:extLst>
              <a:ext uri="{FF2B5EF4-FFF2-40B4-BE49-F238E27FC236}">
                <a16:creationId xmlns:a16="http://schemas.microsoft.com/office/drawing/2014/main" id="{92685725-51A1-45E6-B37B-C0F59FEC0EB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sz="900"/>
              <a:t>フクダ　ヨウジ</a:t>
            </a:r>
            <a:endParaRPr kumimoji="1" lang="ja-JP" altLang="en-US" dirty="0"/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71FF295F-1CD2-4288-B85D-5851EB27336D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767025" y="4267198"/>
            <a:ext cx="7134225" cy="25068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endParaRPr kumimoji="1" lang="ja-JP" altLang="en-US" sz="1200" dirty="0"/>
          </a:p>
        </p:txBody>
      </p:sp>
      <p:sp>
        <p:nvSpPr>
          <p:cNvPr id="20" name="テキスト プレースホルダー 19">
            <a:extLst>
              <a:ext uri="{FF2B5EF4-FFF2-40B4-BE49-F238E27FC236}">
                <a16:creationId xmlns:a16="http://schemas.microsoft.com/office/drawing/2014/main" id="{636314A5-7A31-4518-B261-D54DEE7C088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767025" y="3068905"/>
            <a:ext cx="7134225" cy="23397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endParaRPr kumimoji="1" lang="ja-JP" altLang="en-US" sz="1200" dirty="0"/>
          </a:p>
        </p:txBody>
      </p:sp>
      <p:sp>
        <p:nvSpPr>
          <p:cNvPr id="21" name="テキスト プレースホルダー 20">
            <a:extLst>
              <a:ext uri="{FF2B5EF4-FFF2-40B4-BE49-F238E27FC236}">
                <a16:creationId xmlns:a16="http://schemas.microsoft.com/office/drawing/2014/main" id="{160DF9B3-6203-4263-8453-D0AE471E0DD2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767025" y="5494417"/>
            <a:ext cx="7134225" cy="22441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endParaRPr kumimoji="1" lang="ja-JP" altLang="en-US" sz="1200" dirty="0"/>
          </a:p>
        </p:txBody>
      </p:sp>
    </p:spTree>
    <p:extLst>
      <p:ext uri="{BB962C8B-B14F-4D97-AF65-F5344CB8AC3E}">
        <p14:creationId xmlns:p14="http://schemas.microsoft.com/office/powerpoint/2010/main" val="593173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143000"/>
            <a:ext cx="62636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1F1F1F"/>
                </a:solidFill>
              </a:rPr>
              <a:t>「探す」買い物から、「出会う」買い物へ。</a:t>
            </a:r>
          </a:p>
          <a:p>
            <a:pPr>
              <a:spcAft>
                <a:spcPts val="1600"/>
              </a:spcAft>
            </a:pPr>
            <a:r>
              <a:rPr sz="1150" b="0">
                <a:solidFill>
                  <a:srgbClr val="1F1F1F"/>
                </a:solidFill>
              </a:rPr>
              <a:t>従来のECは、検索窓とカテゴリー階層から始まる。つまり「欲しいもの」が先に決まっていなければ、買い物そのものが始まらない。本作品は、その順番を逆にした。画面いっぱいに映るのは一度に一着だけ。ユーザーは考える前に、直感で左右にスワイプするだけでいい。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C93F48"/>
                </a:solidFill>
              </a:rPr>
              <a:t>覚えることは、三つだけ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1F1F1F"/>
                </a:solidFill>
              </a:rPr>
              <a:t>　右にスワイプ　→　サイズ・カラーを選んで、そのまま購入へ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1F1F1F"/>
                </a:solidFill>
              </a:rPr>
              <a:t>　左にスワイプ　→　見送る（この判断も学習される）</a:t>
            </a:r>
          </a:p>
          <a:p>
            <a:pPr>
              <a:spcAft>
                <a:spcPts val="1600"/>
              </a:spcAft>
            </a:pPr>
            <a:r>
              <a:rPr sz="1150" b="0">
                <a:solidFill>
                  <a:srgbClr val="1F1F1F"/>
                </a:solidFill>
              </a:rPr>
              <a:t>　「いいね！」　→　「一目惚れ」に保存し、あとでゆっくり選ぶ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C93F48"/>
                </a:solidFill>
              </a:rPr>
              <a:t>スワイプするほど、フィードが変わる</a:t>
            </a:r>
          </a:p>
          <a:p>
            <a:pPr>
              <a:spcAft>
                <a:spcPts val="1600"/>
              </a:spcAft>
            </a:pPr>
            <a:r>
              <a:rPr sz="1150" b="0">
                <a:solidFill>
                  <a:srgbClr val="1F1F1F"/>
                </a:solidFill>
              </a:rPr>
              <a:t>多くの推薦システムは「好き」だけを学習する。本作品は見送られた一着にも重みを与える。「これは違う」という判断こそ、その人の輪郭を最もはっきり描くからである。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C93F48"/>
                </a:solidFill>
              </a:rPr>
              <a:t>同じデータは、店側にも届く</a:t>
            </a:r>
          </a:p>
          <a:p>
            <a:pPr>
              <a:spcAft>
                <a:spcPts val="1800"/>
              </a:spcAft>
            </a:pPr>
            <a:r>
              <a:rPr sz="1150" b="0">
                <a:solidFill>
                  <a:srgbClr val="1F1F1F"/>
                </a:solidFill>
              </a:rPr>
              <a:t>「見られたのに選ばれなかった商品」は、売上表には決して現れない。仕入れの判断に、これまでなかった材料が加わる。</a:t>
            </a:r>
          </a:p>
          <a:p>
            <a:pPr>
              <a:spcAft>
                <a:spcPts val="0"/>
              </a:spcAft>
            </a:pPr>
            <a:r>
              <a:rPr sz="1250" b="1">
                <a:solidFill>
                  <a:srgbClr val="1F1F1F"/>
                </a:solidFill>
              </a:rPr>
              <a:t>服との出会い方そのものを変えることが、本作品の目的である。</a:t>
            </a:r>
          </a:p>
        </p:txBody>
      </p:sp>
      <p:pic>
        <p:nvPicPr>
          <p:cNvPr id="3" name="Picture 2" descr="f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91640"/>
            <a:ext cx="2131162" cy="420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975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188720"/>
            <a:ext cx="83210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1F1F1F"/>
                </a:solidFill>
              </a:rPr>
              <a:t>きっかけ — 「見たいものがない」のではなく、「探し方がわからない」</a:t>
            </a:r>
          </a:p>
          <a:p>
            <a:pPr>
              <a:spcAft>
                <a:spcPts val="1200"/>
              </a:spcAft>
            </a:pPr>
            <a:r>
              <a:rPr sz="1150" b="0">
                <a:solidFill>
                  <a:srgbClr val="1F1F1F"/>
                </a:solidFill>
              </a:rPr>
              <a:t>服をオンラインで買おうとするとき、多くの人は検索窓の前で手が止まる。「なんとなく新しい服がほしい」という気持ちはあっても、それを言葉にはできないからである。結果として、カテゴリーを延々とたどり、何十枚もの写真を見比べ、決められないままアプリを閉じる。</a:t>
            </a:r>
          </a:p>
          <a:p>
            <a:pPr>
              <a:spcAft>
                <a:spcPts val="2000"/>
              </a:spcAft>
            </a:pPr>
            <a:r>
              <a:rPr sz="1150" b="0">
                <a:solidFill>
                  <a:srgbClr val="1F1F1F"/>
                </a:solidFill>
              </a:rPr>
              <a:t>一方、SNSでは同じ人が何十枚もの写真を一瞬で判断している。「これは好き」「これは違う」という反応は、言葉より先に出てくる。服選びでも同じことができるはずだ、というのが出発点である。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C93F48"/>
                </a:solidFill>
              </a:rPr>
              <a:t>ポイント①　判断を「言葉」から「反応」へ移す</a:t>
            </a:r>
          </a:p>
          <a:p>
            <a:pPr>
              <a:spcAft>
                <a:spcPts val="1600"/>
              </a:spcAft>
            </a:pPr>
            <a:r>
              <a:rPr sz="1150" b="0">
                <a:solidFill>
                  <a:srgbClr val="1F1F1F"/>
                </a:solidFill>
              </a:rPr>
              <a:t>検索窓をなくし、一度に一着だけを大きく映す。考える材料を減らすことで、かえって判断が速くなる。迷ったときは「いいね！」で保存し、あとから見比べればよい。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C93F48"/>
                </a:solidFill>
              </a:rPr>
              <a:t>ポイント②　「選ばなかった」を捨てない</a:t>
            </a:r>
          </a:p>
          <a:p>
            <a:pPr>
              <a:spcAft>
                <a:spcPts val="1600"/>
              </a:spcAft>
            </a:pPr>
            <a:r>
              <a:rPr sz="1150" b="0">
                <a:solidFill>
                  <a:srgbClr val="1F1F1F"/>
                </a:solidFill>
              </a:rPr>
              <a:t>左スワイプは、これまでどのサービスでも捨てられてきた情報である。しかし「違う」という判断は「好き」と同じだけ、その人の好みを語っている。本作品は左スワイプに −1 の重みを与え、好みの輪郭を両側から描く。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C93F48"/>
                </a:solidFill>
              </a:rPr>
              <a:t>ポイント③　同じデータを、店側にも返す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1F1F1F"/>
                </a:solidFill>
              </a:rPr>
              <a:t>集まった判断は利用者のフィードを変えるだけでなく、「見られたのに選ばれなかった商品」として店側の管理画面にも届く。買う人と売る人の両方が得をする設計にしている。</a:t>
            </a:r>
          </a:p>
        </p:txBody>
      </p:sp>
    </p:spTree>
    <p:extLst>
      <p:ext uri="{BB962C8B-B14F-4D97-AF65-F5344CB8AC3E}">
        <p14:creationId xmlns:p14="http://schemas.microsoft.com/office/powerpoint/2010/main" val="1901414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170432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1F1F1F"/>
                </a:solidFill>
              </a:rPr>
              <a:t>既存のスワイプ型ECとの違い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691640"/>
          <a:ext cx="83210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3063240"/>
                <a:gridCol w="3657600"/>
              </a:tblGrid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</a:rPr>
                        <a:t>比較軸</a:t>
                      </a:r>
                    </a:p>
                  </a:txBody>
                  <a:tcPr anchor="ctr" marL="91440" marR="73152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</a:rPr>
                        <a:t>既存のスワイプ型EC</a:t>
                      </a:r>
                    </a:p>
                  </a:txBody>
                  <a:tcPr anchor="ctr" marL="91440" marR="73152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C93F48"/>
                          </a:solidFill>
                        </a:rPr>
                        <a:t>本作品　HITOME</a:t>
                      </a:r>
                    </a:p>
                  </a:txBody>
                  <a:tcPr anchor="ctr" marL="91440" marR="73152">
                    <a:solidFill>
                      <a:srgbClr val="F4F4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1F1F"/>
                          </a:solidFill>
                        </a:rPr>
                        <a:t>学習に使う操作</a:t>
                      </a:r>
                    </a:p>
                  </a:txBody>
                  <a:tcPr anchor="ctr" marL="91440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</a:rPr>
                        <a:t>「好き」だけを収集し、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</a:rPr>
                        <a:t>左スワイプは単に「次へ進む操作」</a:t>
                      </a:r>
                    </a:p>
                  </a:txBody>
                  <a:tcPr anchor="ctr" marL="91440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</a:rPr>
                        <a:t>「好き」と「違う」の両方。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</a:rPr>
                        <a:t>左スワイプに −1 の重みを与える</a:t>
                      </a:r>
                    </a:p>
                  </a:txBody>
                  <a:tcPr anchor="ctr" marL="91440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1F1F"/>
                          </a:solidFill>
                        </a:rPr>
                        <a:t>学習の対象期間</a:t>
                      </a:r>
                    </a:p>
                  </a:txBody>
                  <a:tcPr anchor="ctr" marL="91440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</a:rPr>
                        <a:t>全履歴を平等に扱うため、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</a:rPr>
                        <a:t>最初の数回で好みが固定される</a:t>
                      </a:r>
                    </a:p>
                  </a:txBody>
                  <a:tcPr anchor="ctr" marL="91440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</a:rPr>
                        <a:t>直近5回のみ。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</a:rPr>
                        <a:t>その日の気分の変化に追従する</a:t>
                      </a:r>
                    </a:p>
                  </a:txBody>
                  <a:tcPr anchor="ctr" marL="91440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1F1F"/>
                          </a:solidFill>
                        </a:rPr>
                        <a:t>データの行き先</a:t>
                      </a:r>
                    </a:p>
                  </a:txBody>
                  <a:tcPr anchor="ctr" marL="91440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</a:rPr>
                        <a:t>利用者への推薦で完結する</a:t>
                      </a:r>
                    </a:p>
                  </a:txBody>
                  <a:tcPr anchor="ctr" marL="91440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</a:rPr>
                        <a:t>同じ記録を集計し、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</a:rPr>
                        <a:t>店側の管理画面にも返す</a:t>
                      </a:r>
                    </a:p>
                  </a:txBody>
                  <a:tcPr anchor="ctr" marL="91440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1F1F"/>
                          </a:solidFill>
                        </a:rPr>
                        <a:t>利用の開始</a:t>
                      </a:r>
                    </a:p>
                  </a:txBody>
                  <a:tcPr anchor="ctr" marL="91440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</a:rPr>
                        <a:t>会員登録が前提</a:t>
                      </a:r>
                    </a:p>
                  </a:txBody>
                  <a:tcPr anchor="ctr" marL="91440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</a:rPr>
                        <a:t>匿名のまま全機能。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</a:rPr>
                        <a:t>登録した時点で履歴を引き継ぐ</a:t>
                      </a:r>
                    </a:p>
                  </a:txBody>
                  <a:tcPr anchor="ctr" marL="91440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4709160"/>
            <a:ext cx="8321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C93F48"/>
                </a:solidFill>
              </a:rPr>
              <a:t>最も新しいのは、三列目の下二段である</a:t>
            </a:r>
          </a:p>
          <a:p>
            <a:pPr>
              <a:spcAft>
                <a:spcPts val="1200"/>
              </a:spcAft>
            </a:pPr>
            <a:r>
              <a:rPr sz="1150" b="0">
                <a:solidFill>
                  <a:srgbClr val="1F1F1F"/>
                </a:solidFill>
              </a:rPr>
              <a:t>「見られたのに選ばれなかった商品」は、売上データには決して現れない。従来の店舗が最も知りたくても集められなかった数字であり、スワイプという操作だからこそ、利用者に負担をかけずに集まる。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1F1F1F"/>
                </a:solidFill>
              </a:rPr>
              <a:t>推薦を利用者に返して終わりにせず、仕入れの判断材料として店側にも返す。買う側の体験と、売る側の意思決定を、ひとつの操作でつないでいる。</a:t>
            </a:r>
          </a:p>
        </p:txBody>
      </p:sp>
    </p:spTree>
    <p:extLst>
      <p:ext uri="{BB962C8B-B14F-4D97-AF65-F5344CB8AC3E}">
        <p14:creationId xmlns:p14="http://schemas.microsoft.com/office/powerpoint/2010/main" val="1870712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325880"/>
            <a:ext cx="4892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1F1F1F"/>
                </a:solidFill>
              </a:rPr>
              <a:t>①　スワイプで選ぶフィード</a:t>
            </a:r>
          </a:p>
          <a:p>
            <a:pPr>
              <a:spcAft>
                <a:spcPts val="1400"/>
              </a:spcAft>
            </a:pPr>
            <a:r>
              <a:rPr sz="1150" b="0">
                <a:solidFill>
                  <a:srgbClr val="1F1F1F"/>
                </a:solidFill>
              </a:rPr>
              <a:t>画面いっぱいに一着だけを表示する。判断は三つの操作で完結する。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1F1F1F"/>
                </a:solidFill>
              </a:rPr>
              <a:t>右にスワイプ　→　購入画面へ</a:t>
            </a:r>
          </a:p>
          <a:p>
            <a:pPr>
              <a:spcAft>
                <a:spcPts val="1200"/>
              </a:spcAft>
            </a:pPr>
            <a:r>
              <a:rPr sz="1100" b="0">
                <a:solidFill>
                  <a:srgbClr val="4A4A4A"/>
                </a:solidFill>
              </a:rPr>
              <a:t>サイズとカラーを選び、そのまま注文まで進める。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1F1F1F"/>
                </a:solidFill>
              </a:rPr>
              <a:t>左にスワイプ　→　見送る</a:t>
            </a:r>
          </a:p>
          <a:p>
            <a:pPr>
              <a:spcAft>
                <a:spcPts val="1200"/>
              </a:spcAft>
            </a:pPr>
            <a:r>
              <a:rPr sz="1100" b="0">
                <a:solidFill>
                  <a:srgbClr val="4A4A4A"/>
                </a:solidFill>
              </a:rPr>
              <a:t>カードは画面外へ飛び、この判断も好みとして記録される。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1F1F1F"/>
                </a:solidFill>
              </a:rPr>
              <a:t>「いいね！」　→　一目惚れに保存</a:t>
            </a:r>
          </a:p>
          <a:p>
            <a:pPr>
              <a:spcAft>
                <a:spcPts val="1800"/>
              </a:spcAft>
            </a:pPr>
            <a:r>
              <a:rPr sz="1100" b="0">
                <a:solidFill>
                  <a:srgbClr val="4A4A4A"/>
                </a:solidFill>
              </a:rPr>
              <a:t>あとからゆっくり選び直せる。取り消しも通知から一度で行える。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C93F48"/>
                </a:solidFill>
              </a:rPr>
              <a:t>カードは上方向にも動く</a:t>
            </a:r>
          </a:p>
          <a:p>
            <a:pPr>
              <a:spcAft>
                <a:spcPts val="1400"/>
              </a:spcAft>
            </a:pPr>
            <a:r>
              <a:rPr sz="1100" b="0">
                <a:solidFill>
                  <a:srgbClr val="4A4A4A"/>
                </a:solidFill>
              </a:rPr>
              <a:t>写真を上へスクロールすると、素材・採寸・評価をまとめた「基本情報」がせり上がる。ページを移動せずに詳細が読める。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C93F48"/>
                </a:solidFill>
              </a:rPr>
              <a:t>初回だけ、操作を案内する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4A4A4A"/>
                </a:solidFill>
              </a:rPr>
              <a:t>最初の訪問時に三段階のガイドが表示され、実際の商品写真で左右の動きを示す。文章での説明は置いていない。</a:t>
            </a:r>
          </a:p>
        </p:txBody>
      </p:sp>
      <p:pic>
        <p:nvPicPr>
          <p:cNvPr id="3" name="Picture 2" descr="swi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2377440"/>
            <a:ext cx="3383280" cy="1643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31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325880"/>
            <a:ext cx="4892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1F1F1F"/>
                </a:solidFill>
              </a:rPr>
              <a:t>②　好みを学習するフィード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1F1F1F"/>
                </a:solidFill>
              </a:rPr>
              <a:t>スワイプ一回ごとに重みを与え、直近5回から好みを組み立てる。</a:t>
            </a:r>
          </a:p>
          <a:p>
            <a:pPr>
              <a:spcAft>
                <a:spcPts val="300"/>
              </a:spcAft>
            </a:pPr>
            <a:r>
              <a:rPr sz="1250" b="1">
                <a:solidFill>
                  <a:srgbClr val="C93F48"/>
                </a:solidFill>
              </a:rPr>
              <a:t>「いいね！」＝ +3　／　右スワイプ＝ +1</a:t>
            </a:r>
          </a:p>
          <a:p>
            <a:pPr>
              <a:spcAft>
                <a:spcPts val="1800"/>
              </a:spcAft>
            </a:pPr>
            <a:r>
              <a:rPr sz="1250" b="1">
                <a:solidFill>
                  <a:srgbClr val="C93F48"/>
                </a:solidFill>
              </a:rPr>
              <a:t>左スワイプ＝ −1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1F1F1F"/>
                </a:solidFill>
              </a:rPr>
              <a:t>四つの軸で評価する</a:t>
            </a:r>
          </a:p>
          <a:p>
            <a:pPr>
              <a:spcAft>
                <a:spcPts val="1400"/>
              </a:spcAft>
            </a:pPr>
            <a:r>
              <a:rPr sz="1100" b="0">
                <a:solidFill>
                  <a:srgbClr val="4A4A4A"/>
                </a:solidFill>
              </a:rPr>
              <a:t>カテゴリー（重み3）・ブランド（2）・色（1.5）・価格帯（1）。人は「種類」で服を買うため、カテゴリーを最も重く扱う。価格帯は最も柔らかい絞り込みとして働く。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1F1F1F"/>
                </a:solidFill>
              </a:rPr>
              <a:t>価格帯は「好きだったもの」からのみ作る</a:t>
            </a:r>
          </a:p>
          <a:p>
            <a:pPr>
              <a:spcAft>
                <a:spcPts val="1400"/>
              </a:spcAft>
            </a:pPr>
            <a:r>
              <a:rPr sz="1100" b="0">
                <a:solidFill>
                  <a:srgbClr val="4A4A4A"/>
                </a:solidFill>
              </a:rPr>
              <a:t>見送った商品の価格は予算を語らない。デザインが理由かもしれないからである。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1F1F1F"/>
                </a:solidFill>
              </a:rPr>
              <a:t>忘れることで、追従する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4A4A4A"/>
                </a:solidFill>
              </a:rPr>
              <a:t>全履歴ではなく直近5回だけを見るため、好みの変化がすぐ反映される。並べ替えは安定ソートで行うため、同点の商品は元の順序を保ち、同じ条件なら常に同じ並びになる。</a:t>
            </a:r>
          </a:p>
        </p:txBody>
      </p:sp>
      <p:pic>
        <p:nvPicPr>
          <p:cNvPr id="3" name="Picture 2" descr="line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2743200"/>
            <a:ext cx="3383280" cy="1038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750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325880"/>
            <a:ext cx="4892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1F1F1F"/>
                </a:solidFill>
              </a:rPr>
              <a:t>③　迷う理由を、ひとつずつ潰す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C93F48"/>
                </a:solidFill>
              </a:rPr>
              <a:t>サイズガイド</a:t>
            </a:r>
          </a:p>
          <a:p>
            <a:pPr>
              <a:spcAft>
                <a:spcPts val="1400"/>
              </a:spcAft>
            </a:pPr>
            <a:r>
              <a:rPr sz="1100" b="0">
                <a:solidFill>
                  <a:srgbClr val="4A4A4A"/>
                </a:solidFill>
              </a:rPr>
              <a:t>サイズを選ぶその場で、身長・胸囲（ボトムスはウエスト）の早見表が開く。表に出るのはその商品が実際に販売しているサイズだけで、レディース・メンズで数値も切り替わる。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C93F48"/>
                </a:solidFill>
              </a:rPr>
              <a:t>レビュー</a:t>
            </a:r>
          </a:p>
          <a:p>
            <a:pPr>
              <a:spcAft>
                <a:spcPts val="1400"/>
              </a:spcAft>
            </a:pPr>
            <a:r>
              <a:rPr sz="1100" b="0">
                <a:solidFill>
                  <a:srgbClr val="4A4A4A"/>
                </a:solidFill>
              </a:rPr>
              <a:t>「評価」の行をタップすると、星の分布と実際の着用コメントがその場で開く。誰でも投稿でき、投稿すると評価は加重平均で更新される。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C93F48"/>
                </a:solidFill>
              </a:rPr>
              <a:t>商品写真は二枚組</a:t>
            </a:r>
          </a:p>
          <a:p>
            <a:pPr>
              <a:spcAft>
                <a:spcPts val="1400"/>
              </a:spcAft>
            </a:pPr>
            <a:r>
              <a:rPr sz="1100" b="0">
                <a:solidFill>
                  <a:srgbClr val="4A4A4A"/>
                </a:solidFill>
              </a:rPr>
              <a:t>一枚目はモデル着用、二枚目は単品。シルエットと生地感の両方を確認できる。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C93F48"/>
                </a:solidFill>
              </a:rPr>
              <a:t>在庫は正確に減る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4A4A4A"/>
                </a:solidFill>
              </a:rPr>
              <a:t>注文は在庫の引き当てと同一トランザクションで行い、在庫の条件はSQLのWHERE句に含めている。同時に注文が重なっても、在庫を超えて売れることはない。</a:t>
            </a:r>
          </a:p>
        </p:txBody>
      </p:sp>
      <p:pic>
        <p:nvPicPr>
          <p:cNvPr id="3" name="Picture 2" descr="fl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2926080"/>
            <a:ext cx="3383280" cy="1593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117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298448"/>
            <a:ext cx="8321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1F1F1F"/>
                </a:solidFill>
              </a:rPr>
              <a:t>④　管理画面 — 売上表に現れない数字</a:t>
            </a:r>
          </a:p>
          <a:p>
            <a:pPr>
              <a:spcAft>
                <a:spcPts val="1400"/>
              </a:spcAft>
            </a:pPr>
            <a:r>
              <a:rPr sz="1150" b="0">
                <a:solidFill>
                  <a:srgbClr val="1F1F1F"/>
                </a:solidFill>
              </a:rPr>
              <a:t>PC向けの管理画面では、商品の登録・編集に加えて、スワイプの集計を確認できる。いいね（＋一目惚れ）が全スワイプに占める割合を商品別に集計し、見送られた回数が多い順に並べる。「見られたのに選ばれなかった商品」が一目で分かる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2761488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C93F48"/>
                </a:solidFill>
              </a:rPr>
              <a:t>管理画面の表示イメージ　―　いいね率の低い順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14553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>
                <a:solidFill>
                  <a:srgbClr val="1F1F1F"/>
                </a:solidFill>
              </a:rPr>
              <a:t>ネイビーテーラードジャケット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63240" y="3182112"/>
            <a:ext cx="3566160" cy="219456"/>
          </a:xfrm>
          <a:prstGeom prst="roundRect">
            <a:avLst>
              <a:gd name="adj" fmla="val 50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063240" y="3182112"/>
            <a:ext cx="285292" cy="219456"/>
          </a:xfrm>
          <a:prstGeom prst="roundRect">
            <a:avLst>
              <a:gd name="adj" fmla="val 50000"/>
            </a:avLst>
          </a:prstGeom>
          <a:solidFill>
            <a:srgbClr val="C93F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02552" y="3136392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C93F48"/>
                </a:solidFill>
              </a:rPr>
              <a:t>8％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316382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4A4A4A"/>
                </a:solidFill>
              </a:rPr>
              <a:t>542回中 45件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69417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>
                <a:solidFill>
                  <a:srgbClr val="1F1F1F"/>
                </a:solidFill>
              </a:rPr>
              <a:t>グレーポロシャツ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3730752"/>
            <a:ext cx="3566160" cy="219456"/>
          </a:xfrm>
          <a:prstGeom prst="roundRect">
            <a:avLst>
              <a:gd name="adj" fmla="val 50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063240" y="3730752"/>
            <a:ext cx="748893" cy="219456"/>
          </a:xfrm>
          <a:prstGeom prst="roundRect">
            <a:avLst>
              <a:gd name="adj" fmla="val 50000"/>
            </a:avLst>
          </a:prstGeom>
          <a:solidFill>
            <a:srgbClr val="C93F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02552" y="3685032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C93F48"/>
                </a:solidFill>
              </a:rPr>
              <a:t>21％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371246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4A4A4A"/>
                </a:solidFill>
              </a:rPr>
              <a:t>488回中 103件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24281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>
                <a:solidFill>
                  <a:srgbClr val="1F1F1F"/>
                </a:solidFill>
              </a:rPr>
              <a:t>コーラルブルゾン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63240" y="4279392"/>
            <a:ext cx="3566160" cy="219456"/>
          </a:xfrm>
          <a:prstGeom prst="roundRect">
            <a:avLst>
              <a:gd name="adj" fmla="val 50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63240" y="4279392"/>
            <a:ext cx="1640433" cy="219456"/>
          </a:xfrm>
          <a:prstGeom prst="roundRect">
            <a:avLst>
              <a:gd name="adj" fmla="val 50000"/>
            </a:avLst>
          </a:prstGeom>
          <a:solidFill>
            <a:srgbClr val="C93F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2552" y="4233672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C93F48"/>
                </a:solidFill>
              </a:rPr>
              <a:t>46％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426110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4A4A4A"/>
                </a:solidFill>
              </a:rPr>
              <a:t>610回中 281件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791455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>
                <a:solidFill>
                  <a:srgbClr val="1F1F1F"/>
                </a:solidFill>
              </a:rPr>
              <a:t>リネンワンピース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63240" y="4828031"/>
            <a:ext cx="3566160" cy="219456"/>
          </a:xfrm>
          <a:prstGeom prst="roundRect">
            <a:avLst>
              <a:gd name="adj" fmla="val 50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063240" y="4828031"/>
            <a:ext cx="2531973" cy="219456"/>
          </a:xfrm>
          <a:prstGeom prst="roundRect">
            <a:avLst>
              <a:gd name="adj" fmla="val 50000"/>
            </a:avLst>
          </a:prstGeom>
          <a:solidFill>
            <a:srgbClr val="C93F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02552" y="4782312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C93F48"/>
                </a:solidFill>
              </a:rPr>
              <a:t>71％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480974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4A4A4A"/>
                </a:solidFill>
              </a:rPr>
              <a:t>573回中 407件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5577840"/>
            <a:ext cx="8321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4A4A4A"/>
                </a:solidFill>
              </a:rPr>
              <a:t>写真を追加する際は、フィードのカードと同じ縦3:4の枠で表示範囲をその場で調整できる。横位置の写真でも、モデルの頭や足が切れない。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4A4A4A"/>
                </a:solidFill>
              </a:rPr>
              <a:t>管理画面の各ページとサーバー処理は、すべて実行前に権限を確認する。画面を隠すだけの制御は行っていない。役割はセッションの控えではなくデータベースから直接読み、権限を外した変更が即座に反映されるようにしている。</a:t>
            </a:r>
          </a:p>
        </p:txBody>
      </p:sp>
    </p:spTree>
    <p:extLst>
      <p:ext uri="{BB962C8B-B14F-4D97-AF65-F5344CB8AC3E}">
        <p14:creationId xmlns:p14="http://schemas.microsoft.com/office/powerpoint/2010/main" val="2354918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3.potx" id="{BF8032D6-5189-482E-B6C1-1A2FB328D1FE}" vid="{9ED8253F-4C17-4670-9905-BC4D5D459A31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2586</TotalTime>
  <Words>47</Words>
  <Application>Microsoft Macintosh PowerPoint</Application>
  <PresentationFormat>On-screen Show (4:3)</PresentationFormat>
  <Paragraphs>12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MS PGothic</vt:lpstr>
      <vt:lpstr>Arial</vt:lpstr>
      <vt:lpstr>Calibri</vt:lpstr>
      <vt:lpstr>Calibri Light</vt:lpstr>
      <vt:lpstr>Office テーマ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Windows User</dc:creator>
  <cp:lastModifiedBy>test</cp:lastModifiedBy>
  <cp:revision>31</cp:revision>
  <dcterms:created xsi:type="dcterms:W3CDTF">2016-04-08T08:41:27Z</dcterms:created>
  <dcterms:modified xsi:type="dcterms:W3CDTF">2026-08-04T13:24:46Z</dcterms:modified>
</cp:coreProperties>
</file>